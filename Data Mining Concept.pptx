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9"/>
  </p:notesMasterIdLst>
  <p:sldIdLst>
    <p:sldId id="256" r:id="rId2"/>
    <p:sldId id="258" r:id="rId3"/>
    <p:sldId id="262" r:id="rId4"/>
    <p:sldId id="311" r:id="rId5"/>
    <p:sldId id="312" r:id="rId6"/>
    <p:sldId id="264" r:id="rId7"/>
    <p:sldId id="314" r:id="rId8"/>
    <p:sldId id="313" r:id="rId9"/>
    <p:sldId id="315" r:id="rId10"/>
    <p:sldId id="266" r:id="rId11"/>
    <p:sldId id="316" r:id="rId12"/>
    <p:sldId id="318" r:id="rId13"/>
    <p:sldId id="319" r:id="rId14"/>
    <p:sldId id="320" r:id="rId15"/>
    <p:sldId id="317" r:id="rId16"/>
    <p:sldId id="321" r:id="rId17"/>
    <p:sldId id="322" r:id="rId18"/>
    <p:sldId id="276" r:id="rId19"/>
    <p:sldId id="325" r:id="rId20"/>
    <p:sldId id="324" r:id="rId21"/>
    <p:sldId id="326" r:id="rId22"/>
    <p:sldId id="328" r:id="rId23"/>
    <p:sldId id="327" r:id="rId24"/>
    <p:sldId id="329" r:id="rId25"/>
    <p:sldId id="323" r:id="rId26"/>
    <p:sldId id="330" r:id="rId27"/>
    <p:sldId id="290" r:id="rId28"/>
  </p:sldIdLst>
  <p:sldSz cx="9144000" cy="5143500" type="screen16x9"/>
  <p:notesSz cx="6858000" cy="9144000"/>
  <p:embeddedFontLst>
    <p:embeddedFont>
      <p:font typeface="Albert Sans" panose="020B0604020202020204" charset="0"/>
      <p:regular r:id="rId30"/>
      <p:bold r:id="rId31"/>
      <p:italic r:id="rId32"/>
      <p:boldItalic r:id="rId33"/>
    </p:embeddedFont>
    <p:embeddedFont>
      <p:font typeface="Alexandria Medium" panose="020B0604020202020204" charset="-78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E74E7D-CBFD-4C33-8129-CBABBA34E042}">
  <a:tblStyle styleId="{05E74E7D-CBFD-4C33-8129-CBABBA34E0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16BE332-AEC0-42E5-90A0-68F78752817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087" autoAdjust="0"/>
  </p:normalViewPr>
  <p:slideViewPr>
    <p:cSldViewPr snapToGrid="0">
      <p:cViewPr>
        <p:scale>
          <a:sx n="69" d="100"/>
          <a:sy n="69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discovering </a:t>
            </a:r>
            <a:r>
              <a:rPr lang="en-US" b="1" dirty="0"/>
              <a:t>new, non-trivial (</a:t>
            </a:r>
            <a:r>
              <a:rPr lang="en-US" b="1" dirty="0" err="1"/>
              <a:t>bukan</a:t>
            </a:r>
            <a:r>
              <a:rPr lang="en-US" b="1" dirty="0"/>
              <a:t> </a:t>
            </a:r>
            <a:r>
              <a:rPr lang="en-US" b="1" dirty="0" err="1"/>
              <a:t>hal</a:t>
            </a:r>
            <a:r>
              <a:rPr lang="en-US" b="1" dirty="0"/>
              <a:t> </a:t>
            </a:r>
            <a:r>
              <a:rPr lang="en-US" b="1" dirty="0" err="1"/>
              <a:t>sepele</a:t>
            </a:r>
            <a:r>
              <a:rPr lang="en-US" b="1" dirty="0"/>
              <a:t>), previously unknown patterns</a:t>
            </a:r>
            <a:r>
              <a:rPr lang="en-US" dirty="0"/>
              <a:t> from large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b="1" dirty="0"/>
              <a:t>In simple terms:</a:t>
            </a:r>
            <a:r>
              <a:rPr lang="en-US" dirty="0"/>
              <a:t> Data mining = finding hidden patterns in large data.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archaeology → exploring ancient ruins to understand history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dredging → fishing blindly until something bites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Information harvesting → farming crops intentionally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every data-related activity should be called data mining.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708C3EA9-DD4C-67D6-1CAF-345BF21F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59EBBBF4-35E2-65BE-CE7F-088D06D54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8AD50F01-5A83-F0AE-37F1-88AA9EF57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95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EFEEB435-8E69-4615-3A2E-67F3C27C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057F73AE-B7D7-8702-7785-02FDCC7E4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811EBAC8-8ACD-49FD-30A4-B766DE0FA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6120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29B9179C-79AC-16F2-EBD3-3AD84D05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>
            <a:extLst>
              <a:ext uri="{FF2B5EF4-FFF2-40B4-BE49-F238E27FC236}">
                <a16:creationId xmlns:a16="http://schemas.microsoft.com/office/drawing/2014/main" id="{073DD9FF-BFB4-AADD-76A6-7A4136CD29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>
            <a:extLst>
              <a:ext uri="{FF2B5EF4-FFF2-40B4-BE49-F238E27FC236}">
                <a16:creationId xmlns:a16="http://schemas.microsoft.com/office/drawing/2014/main" id="{6F9BA80E-F8CA-A8D9-9DC0-B0F6A0A35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1" dirty="0"/>
              <a:t>K-Means clustering ✅</a:t>
            </a:r>
          </a:p>
          <a:p>
            <a:r>
              <a:rPr lang="en-US" dirty="0"/>
              <a:t>Automatically discovers hidden structure</a:t>
            </a:r>
          </a:p>
          <a:p>
            <a:r>
              <a:rPr lang="en-US" dirty="0"/>
              <a:t>Finds unknown customer groups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True data mining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5558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b="1" dirty="0"/>
              <a:t>✅ Answer: C. Data mining</a:t>
            </a:r>
          </a:p>
          <a:p>
            <a:pPr marL="158750" indent="0">
              <a:buNone/>
            </a:pPr>
            <a:r>
              <a:rPr lang="en-US" b="1" dirty="0"/>
              <a:t>Why:</a:t>
            </a:r>
            <a:r>
              <a:rPr lang="en-US" dirty="0"/>
              <a:t> the model learns patterns from data.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8B74B63-1D8B-9ADF-61C8-E719C807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>
            <a:extLst>
              <a:ext uri="{FF2B5EF4-FFF2-40B4-BE49-F238E27FC236}">
                <a16:creationId xmlns:a16="http://schemas.microsoft.com/office/drawing/2014/main" id="{BFC75F87-3F88-4D13-42A7-114394ADA1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>
            <a:extLst>
              <a:ext uri="{FF2B5EF4-FFF2-40B4-BE49-F238E27FC236}">
                <a16:creationId xmlns:a16="http://schemas.microsoft.com/office/drawing/2014/main" id="{F95BE65C-4995-69F0-6212-7D7E9EA2E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✅ Answer: </a:t>
            </a:r>
            <a:r>
              <a:rPr lang="en-US" b="1" dirty="0"/>
              <a:t>C. Data dredging</a:t>
            </a:r>
          </a:p>
          <a:p>
            <a:pPr marL="158750" indent="0">
              <a:buNone/>
            </a:pPr>
            <a:r>
              <a:rPr lang="en-US" b="1" dirty="0"/>
              <a:t>Why: </a:t>
            </a:r>
            <a:r>
              <a:rPr lang="en-US" dirty="0"/>
              <a:t>Because the analyst is </a:t>
            </a:r>
            <a:r>
              <a:rPr lang="en-US" b="1" dirty="0"/>
              <a:t>searching blindly through many tests without a prior hypothesis</a:t>
            </a:r>
            <a:r>
              <a:rPr lang="en-US" dirty="0"/>
              <a:t>, which greatly increases the chance of finding </a:t>
            </a:r>
            <a:r>
              <a:rPr lang="en-US" b="1" dirty="0"/>
              <a:t>false significant results by luck</a:t>
            </a:r>
            <a:r>
              <a:rPr lang="en-US" dirty="0"/>
              <a:t>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4 point </a:t>
            </a:r>
            <a:r>
              <a:rPr lang="en-US" dirty="0" err="1"/>
              <a:t>diatas</a:t>
            </a:r>
            <a:r>
              <a:rPr lang="en-US" dirty="0"/>
              <a:t> Adalah </a:t>
            </a:r>
            <a:r>
              <a:rPr lang="en-US" dirty="0" err="1"/>
              <a:t>bukan</a:t>
            </a:r>
            <a:r>
              <a:rPr lang="en-US" dirty="0"/>
              <a:t> data mining</a:t>
            </a:r>
          </a:p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9511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746BC830-9F77-73B8-726C-D1DA55D6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>
            <a:extLst>
              <a:ext uri="{FF2B5EF4-FFF2-40B4-BE49-F238E27FC236}">
                <a16:creationId xmlns:a16="http://schemas.microsoft.com/office/drawing/2014/main" id="{3254991B-251B-41F1-6578-C4152B346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>
            <a:extLst>
              <a:ext uri="{FF2B5EF4-FFF2-40B4-BE49-F238E27FC236}">
                <a16:creationId xmlns:a16="http://schemas.microsoft.com/office/drawing/2014/main" id="{BE7E8633-652A-E90F-98CD-24D9ECB9A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6754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743587D0-A0E3-D94D-CB3E-16F458D1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>
            <a:extLst>
              <a:ext uri="{FF2B5EF4-FFF2-40B4-BE49-F238E27FC236}">
                <a16:creationId xmlns:a16="http://schemas.microsoft.com/office/drawing/2014/main" id="{E25D144C-1436-5B97-9B34-7DCDB6A5C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>
            <a:extLst>
              <a:ext uri="{FF2B5EF4-FFF2-40B4-BE49-F238E27FC236}">
                <a16:creationId xmlns:a16="http://schemas.microsoft.com/office/drawing/2014/main" id="{E39FD086-0B6D-1D34-F8DC-5210A658E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4039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6A4D92CE-27FE-95B0-F2D4-E949A2A1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572bee519d_0_882:notes">
            <a:extLst>
              <a:ext uri="{FF2B5EF4-FFF2-40B4-BE49-F238E27FC236}">
                <a16:creationId xmlns:a16="http://schemas.microsoft.com/office/drawing/2014/main" id="{F14B16AA-0B21-9D35-CD31-43BA0DE5A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572bee519d_0_882:notes">
            <a:extLst>
              <a:ext uri="{FF2B5EF4-FFF2-40B4-BE49-F238E27FC236}">
                <a16:creationId xmlns:a16="http://schemas.microsoft.com/office/drawing/2014/main" id="{9354698A-956E-6015-54F2-45BA72E6E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1072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3994D7A1-F894-A343-0FE8-3A2CEABA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E74C5E9B-A9CB-B882-AFCC-FF46E57FE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1D543F78-AD88-9233-2DB3-546ADE73A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Sebenarnya</a:t>
            </a:r>
            <a:r>
              <a:rPr lang="en-US" dirty="0"/>
              <a:t> data mining </a:t>
            </a:r>
            <a:r>
              <a:rPr lang="en-US" dirty="0" err="1"/>
              <a:t>merupakan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step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pada proses </a:t>
            </a:r>
            <a:r>
              <a:rPr lang="en-US" dirty="0" err="1"/>
              <a:t>besar</a:t>
            </a:r>
            <a:r>
              <a:rPr lang="en-US" dirty="0"/>
              <a:t> “knowledge discovery”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7201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0DE2655C-C336-80DC-5A1D-CF3C53F0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>
            <a:extLst>
              <a:ext uri="{FF2B5EF4-FFF2-40B4-BE49-F238E27FC236}">
                <a16:creationId xmlns:a16="http://schemas.microsoft.com/office/drawing/2014/main" id="{28E4832D-3493-F725-C68B-03C6FF957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>
            <a:extLst>
              <a:ext uri="{FF2B5EF4-FFF2-40B4-BE49-F238E27FC236}">
                <a16:creationId xmlns:a16="http://schemas.microsoft.com/office/drawing/2014/main" id="{17C54772-5341-7174-B173-ABD429B82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1672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72bee519d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72bee519d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765B48E-BD86-C719-96F9-ED3FE493E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72bee519d_0_443:notes">
            <a:extLst>
              <a:ext uri="{FF2B5EF4-FFF2-40B4-BE49-F238E27FC236}">
                <a16:creationId xmlns:a16="http://schemas.microsoft.com/office/drawing/2014/main" id="{AF8B6603-E4A4-4EB5-F311-078531AD9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72bee519d_0_443:notes">
            <a:extLst>
              <a:ext uri="{FF2B5EF4-FFF2-40B4-BE49-F238E27FC236}">
                <a16:creationId xmlns:a16="http://schemas.microsoft.com/office/drawing/2014/main" id="{046D4EBD-57F7-9DDD-319A-051E5D0D2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840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C3E418EA-B81F-5EFB-B0C8-311C454C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72bee519d_0_443:notes">
            <a:extLst>
              <a:ext uri="{FF2B5EF4-FFF2-40B4-BE49-F238E27FC236}">
                <a16:creationId xmlns:a16="http://schemas.microsoft.com/office/drawing/2014/main" id="{3781D075-FA9B-3A43-2438-CC37459FC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72bee519d_0_443:notes">
            <a:extLst>
              <a:ext uri="{FF2B5EF4-FFF2-40B4-BE49-F238E27FC236}">
                <a16:creationId xmlns:a16="http://schemas.microsoft.com/office/drawing/2014/main" id="{924C776F-C0FF-C304-6690-E3C869A922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771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CE48437D-26AE-4EE0-8704-27343255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72bee519d_0_443:notes">
            <a:extLst>
              <a:ext uri="{FF2B5EF4-FFF2-40B4-BE49-F238E27FC236}">
                <a16:creationId xmlns:a16="http://schemas.microsoft.com/office/drawing/2014/main" id="{7B088A1B-9962-1A83-3714-736A1C366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72bee519d_0_443:notes">
            <a:extLst>
              <a:ext uri="{FF2B5EF4-FFF2-40B4-BE49-F238E27FC236}">
                <a16:creationId xmlns:a16="http://schemas.microsoft.com/office/drawing/2014/main" id="{3A44FEC4-93C7-6D97-43C1-AB3BD8DD1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98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D7EAF59A-3F61-F625-AE87-EDEA1795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72bee519d_0_443:notes">
            <a:extLst>
              <a:ext uri="{FF2B5EF4-FFF2-40B4-BE49-F238E27FC236}">
                <a16:creationId xmlns:a16="http://schemas.microsoft.com/office/drawing/2014/main" id="{B7EF8474-FEA7-BE51-6523-70E397BCD9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72bee519d_0_443:notes">
            <a:extLst>
              <a:ext uri="{FF2B5EF4-FFF2-40B4-BE49-F238E27FC236}">
                <a16:creationId xmlns:a16="http://schemas.microsoft.com/office/drawing/2014/main" id="{CFB399A9-F556-7E97-3B01-94E822CAA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679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BF8AA738-2965-C8F1-CC5A-FF7CE424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72bee519d_0_443:notes">
            <a:extLst>
              <a:ext uri="{FF2B5EF4-FFF2-40B4-BE49-F238E27FC236}">
                <a16:creationId xmlns:a16="http://schemas.microsoft.com/office/drawing/2014/main" id="{63733E44-922C-4D9A-9657-D54FDF5E4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72bee519d_0_443:notes">
            <a:extLst>
              <a:ext uri="{FF2B5EF4-FFF2-40B4-BE49-F238E27FC236}">
                <a16:creationId xmlns:a16="http://schemas.microsoft.com/office/drawing/2014/main" id="{B9570230-D183-E48F-16BD-2BDC13A38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we know the answer (label), what type of learning is it? Supervised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we don’t know the answer? </a:t>
            </a:r>
            <a:r>
              <a:rPr lang="en-US" b="1" dirty="0"/>
              <a:t>Unsupervised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11913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6CB11609-CC5D-86C4-9C2D-D6A09B6E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72bee519d_0_443:notes">
            <a:extLst>
              <a:ext uri="{FF2B5EF4-FFF2-40B4-BE49-F238E27FC236}">
                <a16:creationId xmlns:a16="http://schemas.microsoft.com/office/drawing/2014/main" id="{E2830DD4-7A4F-22ED-A8E4-F3984BC700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72bee519d_0_443:notes">
            <a:extLst>
              <a:ext uri="{FF2B5EF4-FFF2-40B4-BE49-F238E27FC236}">
                <a16:creationId xmlns:a16="http://schemas.microsoft.com/office/drawing/2014/main" id="{1D050F64-E1E8-0F21-9571-9CF21C6FB3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9954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89ADDDCD-46C5-0857-30DC-04730CFC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>
            <a:extLst>
              <a:ext uri="{FF2B5EF4-FFF2-40B4-BE49-F238E27FC236}">
                <a16:creationId xmlns:a16="http://schemas.microsoft.com/office/drawing/2014/main" id="{6CC6B5C2-EA18-1BE0-AF40-565424537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>
            <a:extLst>
              <a:ext uri="{FF2B5EF4-FFF2-40B4-BE49-F238E27FC236}">
                <a16:creationId xmlns:a16="http://schemas.microsoft.com/office/drawing/2014/main" id="{EA0A1F6C-27A5-1ACE-2505-335782833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Why is data mining not the final goal? Because data mining is </a:t>
            </a:r>
            <a:r>
              <a:rPr lang="en-US" b="1" dirty="0"/>
              <a:t>only one layer</a:t>
            </a:r>
            <a:r>
              <a:rPr lang="en-US" dirty="0"/>
              <a:t>.</a:t>
            </a:r>
          </a:p>
          <a:p>
            <a:pPr marL="158750" indent="0">
              <a:buNone/>
            </a:pPr>
            <a:r>
              <a:rPr lang="en-US" dirty="0"/>
              <a:t>The final goal is: Decision Making.</a:t>
            </a:r>
          </a:p>
          <a:p>
            <a:pPr marL="158750" indent="0">
              <a:buNone/>
            </a:pPr>
            <a:r>
              <a:rPr lang="en-US" dirty="0"/>
              <a:t>Data mining is powerful, but by itself it does not create business value. Value is created when insights are translated into decisions.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id-ID" dirty="0"/>
              <a:t>Piramida ini menunjukkan bagaimana data mentah di bagian bawah diubah langkah demi langkah menjadi keputusan bisnis di bagian atas. </a:t>
            </a:r>
            <a:endParaRPr lang="en-US" dirty="0"/>
          </a:p>
          <a:p>
            <a:pPr marL="158750" indent="0">
              <a:buNone/>
            </a:pPr>
            <a:r>
              <a:rPr lang="id-ID" dirty="0"/>
              <a:t>Penambangan data bukanlah titik awal dan bukan pula titik akhir — ini adalah salah satu tahapan penting dalam proses penemuan pengetahuan. </a:t>
            </a:r>
            <a:endParaRPr lang="en-US" dirty="0"/>
          </a:p>
          <a:p>
            <a:pPr marL="158750" indent="0">
              <a:buNone/>
            </a:pPr>
            <a:r>
              <a:rPr lang="id-ID" dirty="0"/>
              <a:t>Semakin tinggi kita naik, semakin terstruktur, disempurnakan, dan berharga informasinya.</a:t>
            </a:r>
            <a:endParaRPr lang="en-US" dirty="0"/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Ini Adalah </a:t>
            </a:r>
            <a:r>
              <a:rPr lang="en-US" dirty="0" err="1"/>
              <a:t>versi</a:t>
            </a:r>
            <a:r>
              <a:rPr lang="en-US" dirty="0"/>
              <a:t> lama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1479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C44657B9-AC4B-0E91-7CC6-146B59020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>
            <a:extLst>
              <a:ext uri="{FF2B5EF4-FFF2-40B4-BE49-F238E27FC236}">
                <a16:creationId xmlns:a16="http://schemas.microsoft.com/office/drawing/2014/main" id="{B00086E3-15C9-0553-C659-7F3C1EE102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>
            <a:extLst>
              <a:ext uri="{FF2B5EF4-FFF2-40B4-BE49-F238E27FC236}">
                <a16:creationId xmlns:a16="http://schemas.microsoft.com/office/drawing/2014/main" id="{68C4D113-D485-6280-831B-13DF46DD0B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Ini </a:t>
            </a:r>
            <a:r>
              <a:rPr lang="en-US" dirty="0" err="1"/>
              <a:t>versi</a:t>
            </a:r>
            <a:r>
              <a:rPr lang="en-US" dirty="0"/>
              <a:t> </a:t>
            </a:r>
            <a:r>
              <a:rPr lang="en-US" dirty="0" err="1"/>
              <a:t>terbarunya</a:t>
            </a:r>
            <a:endParaRPr lang="en-US" dirty="0"/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Data Engineers make data usable.</a:t>
            </a:r>
            <a:br>
              <a:rPr lang="en-US" dirty="0"/>
            </a:br>
            <a:r>
              <a:rPr lang="en-US" dirty="0"/>
              <a:t>Data Scientists extract patterns and build models.</a:t>
            </a:r>
            <a:br>
              <a:rPr lang="en-US" dirty="0"/>
            </a:br>
            <a:r>
              <a:rPr lang="en-US" dirty="0"/>
              <a:t>Business leaders use validated results to make decisions.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05480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572bee519d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572bee519d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>
            <a:spLocks noGrp="1"/>
          </p:cNvSpPr>
          <p:nvPr>
            <p:ph type="title" hasCustomPrompt="1"/>
          </p:nvPr>
        </p:nvSpPr>
        <p:spPr>
          <a:xfrm>
            <a:off x="715100" y="983000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7" name="Google Shape;147;p24"/>
          <p:cNvSpPr txBox="1">
            <a:spLocks noGrp="1"/>
          </p:cNvSpPr>
          <p:nvPr>
            <p:ph type="subTitle" idx="1"/>
          </p:nvPr>
        </p:nvSpPr>
        <p:spPr>
          <a:xfrm>
            <a:off x="715100" y="1858700"/>
            <a:ext cx="7713900" cy="6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921600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9" name="Google Shape;149;p24"/>
          <p:cNvSpPr txBox="1">
            <a:spLocks noGrp="1"/>
          </p:cNvSpPr>
          <p:nvPr>
            <p:ph type="subTitle" idx="3"/>
          </p:nvPr>
        </p:nvSpPr>
        <p:spPr>
          <a:xfrm>
            <a:off x="715100" y="3797300"/>
            <a:ext cx="7713900" cy="6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l="-6643" t="-11183" r="27548" b="-11170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1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9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9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65" r:id="rId5"/>
    <p:sldLayoutId id="2147483666" r:id="rId6"/>
    <p:sldLayoutId id="2147483670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i92JEuuqsuDJ_kCx9jFHh1k-6RZ-RKiT#scrollTo=bf6045e3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5sw7MSzcAjEH8SLWDSTjV7Wsf_JjAnAd#scrollTo=8c94116b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6Ay25O4lOX_CZJ0ntJK8fibM2x1Hsku#scrollTo=d25dd739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7610526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Concept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8C435B-6A40-1997-896F-7D89A1597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941" y="3446049"/>
            <a:ext cx="1464380" cy="8976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3097926" y="13673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3636351" y="136732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mine data ?</a:t>
            </a:r>
            <a:endParaRPr dirty="0"/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</a:t>
            </a:r>
            <a:endParaRPr dirty="0"/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1609075" y="2103533"/>
            <a:ext cx="2828246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data mining ?</a:t>
            </a:r>
            <a:endParaRPr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1609074" y="2839740"/>
            <a:ext cx="2892041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 in data mining</a:t>
            </a:r>
            <a:endParaRPr dirty="0"/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 idx="7"/>
          </p:nvPr>
        </p:nvSpPr>
        <p:spPr>
          <a:xfrm>
            <a:off x="4912549" y="2165366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subTitle" idx="8"/>
          </p:nvPr>
        </p:nvSpPr>
        <p:spPr>
          <a:xfrm>
            <a:off x="5450974" y="2165364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tasks</a:t>
            </a:r>
            <a:endParaRPr dirty="0"/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9"/>
          </p:nvPr>
        </p:nvSpPr>
        <p:spPr>
          <a:xfrm>
            <a:off x="4927449" y="2834617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6" name="Google Shape;216;p37"/>
          <p:cNvSpPr txBox="1">
            <a:spLocks noGrp="1"/>
          </p:cNvSpPr>
          <p:nvPr>
            <p:ph type="subTitle" idx="13"/>
          </p:nvPr>
        </p:nvSpPr>
        <p:spPr>
          <a:xfrm>
            <a:off x="5465950" y="2834617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in applications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0833F9-D08E-61A6-BA42-D4E3DC3B4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844" y="90142"/>
            <a:ext cx="895096" cy="5487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1310253" y="1410586"/>
            <a:ext cx="5856092" cy="2643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The data is abundant 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The data is being warehoused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The computing power is affordable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The competitive pressure is strong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Data mining tools have become available</a:t>
            </a:r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715050" y="379056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mine data ?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3CA275-FFB6-23ED-E486-DE086876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Why mine data 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350A6-D9F0-0B30-F51F-F9D92BDED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75" y="1195242"/>
            <a:ext cx="7190703" cy="290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3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D594-C9DD-2139-5816-CE478E4F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D04E7A-C974-BA22-1333-06FA3FC5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Why mine data 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5D015-D863-8F5F-394D-A03174BB3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818" y="1315450"/>
            <a:ext cx="6996223" cy="966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E0B39A-DA13-EE28-1981-639D53772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632" y="2513454"/>
            <a:ext cx="5380074" cy="227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1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>
            <a:spLocks noGrp="1"/>
          </p:cNvSpPr>
          <p:nvPr>
            <p:ph type="subTitle" idx="1"/>
          </p:nvPr>
        </p:nvSpPr>
        <p:spPr>
          <a:xfrm>
            <a:off x="1104960" y="1550332"/>
            <a:ext cx="6061383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/>
              <a:t>Extraction of interesting (</a:t>
            </a:r>
            <a:r>
              <a:rPr lang="en-US" b="1" dirty="0"/>
              <a:t>non-trivial, previously unknown and potentially useful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patterns or knowledge from huge amount of data</a:t>
            </a:r>
          </a:p>
        </p:txBody>
      </p:sp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Data Mining ?</a:t>
            </a:r>
            <a:endParaRPr dirty="0"/>
          </a:p>
        </p:txBody>
      </p:sp>
      <p:sp>
        <p:nvSpPr>
          <p:cNvPr id="265" name="Google Shape;265;p43"/>
          <p:cNvSpPr txBox="1">
            <a:spLocks noGrp="1"/>
          </p:cNvSpPr>
          <p:nvPr>
            <p:ph type="subTitle" idx="2"/>
          </p:nvPr>
        </p:nvSpPr>
        <p:spPr>
          <a:xfrm>
            <a:off x="1170601" y="3058333"/>
            <a:ext cx="6243836" cy="7835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" dirty="0"/>
              <a:t>Knowledge discovery (mining) in databases (KDD), knowledge extraction, data/pattern analysis, </a:t>
            </a:r>
            <a:r>
              <a:rPr lang="en-US" dirty="0"/>
              <a:t>data analytics (context dependent),</a:t>
            </a:r>
            <a:r>
              <a:rPr lang="en" dirty="0"/>
              <a:t> business intelligence, etc.</a:t>
            </a:r>
            <a:endParaRPr dirty="0"/>
          </a:p>
        </p:txBody>
      </p:sp>
      <p:sp>
        <p:nvSpPr>
          <p:cNvPr id="266" name="Google Shape;266;p43"/>
          <p:cNvSpPr txBox="1">
            <a:spLocks noGrp="1"/>
          </p:cNvSpPr>
          <p:nvPr>
            <p:ph type="subTitle" idx="3"/>
          </p:nvPr>
        </p:nvSpPr>
        <p:spPr>
          <a:xfrm>
            <a:off x="715100" y="1236100"/>
            <a:ext cx="59301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Data mining (knowledge discovery from data)</a:t>
            </a:r>
            <a:endParaRPr dirty="0"/>
          </a:p>
        </p:txBody>
      </p:sp>
      <p:sp>
        <p:nvSpPr>
          <p:cNvPr id="267" name="Google Shape;267;p43"/>
          <p:cNvSpPr txBox="1">
            <a:spLocks noGrp="1"/>
          </p:cNvSpPr>
          <p:nvPr>
            <p:ph type="subTitle" idx="4"/>
          </p:nvPr>
        </p:nvSpPr>
        <p:spPr>
          <a:xfrm>
            <a:off x="715100" y="2737016"/>
            <a:ext cx="59301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Alternative names</a:t>
            </a:r>
          </a:p>
        </p:txBody>
      </p:sp>
      <p:sp>
        <p:nvSpPr>
          <p:cNvPr id="2" name="Google Shape;265;p43">
            <a:extLst>
              <a:ext uri="{FF2B5EF4-FFF2-40B4-BE49-F238E27FC236}">
                <a16:creationId xmlns:a16="http://schemas.microsoft.com/office/drawing/2014/main" id="{BB98C72B-F45C-6613-D5A4-2F0939023DB4}"/>
              </a:ext>
            </a:extLst>
          </p:cNvPr>
          <p:cNvSpPr txBox="1">
            <a:spLocks/>
          </p:cNvSpPr>
          <p:nvPr/>
        </p:nvSpPr>
        <p:spPr>
          <a:xfrm>
            <a:off x="1104960" y="4155488"/>
            <a:ext cx="6243836" cy="67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Simple search and query processing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(Deductive) expert systems</a:t>
            </a:r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11C73B75-471D-3579-5787-806D6DDCEE7D}"/>
              </a:ext>
            </a:extLst>
          </p:cNvPr>
          <p:cNvSpPr txBox="1">
            <a:spLocks/>
          </p:cNvSpPr>
          <p:nvPr/>
        </p:nvSpPr>
        <p:spPr>
          <a:xfrm>
            <a:off x="649459" y="3834172"/>
            <a:ext cx="5930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" dirty="0"/>
              <a:t>Watch out: Is everything “data Mining” ?</a:t>
            </a:r>
          </a:p>
        </p:txBody>
      </p:sp>
      <p:sp>
        <p:nvSpPr>
          <p:cNvPr id="4" name="Google Shape;274;p44">
            <a:extLst>
              <a:ext uri="{FF2B5EF4-FFF2-40B4-BE49-F238E27FC236}">
                <a16:creationId xmlns:a16="http://schemas.microsoft.com/office/drawing/2014/main" id="{2966CFB3-3FA5-64A2-445E-1DD03579DBA8}"/>
              </a:ext>
            </a:extLst>
          </p:cNvPr>
          <p:cNvSpPr txBox="1">
            <a:spLocks/>
          </p:cNvSpPr>
          <p:nvPr/>
        </p:nvSpPr>
        <p:spPr>
          <a:xfrm>
            <a:off x="1923813" y="2279522"/>
            <a:ext cx="4742651" cy="45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60961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sz="1100" dirty="0"/>
              <a:t>In simple term </a:t>
            </a:r>
            <a:r>
              <a:rPr lang="en-US" sz="1100" dirty="0">
                <a:sym typeface="Wingdings" panose="05000000000000000000" pitchFamily="2" charset="2"/>
              </a:rPr>
              <a:t> </a:t>
            </a:r>
            <a:r>
              <a:rPr lang="en-US" sz="1100" dirty="0"/>
              <a:t>Data mining = finding hidden patterns in large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6CB30A9A-48BB-86EC-327D-ED1AFE3D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>
            <a:extLst>
              <a:ext uri="{FF2B5EF4-FFF2-40B4-BE49-F238E27FC236}">
                <a16:creationId xmlns:a16="http://schemas.microsoft.com/office/drawing/2014/main" id="{6532C2D9-9344-4DDF-E65E-B4420D022C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38109" y="791877"/>
            <a:ext cx="1843807" cy="13001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SQL queries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Filtering records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Retrieving data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Keyword search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265" name="Google Shape;265;p43">
            <a:extLst>
              <a:ext uri="{FF2B5EF4-FFF2-40B4-BE49-F238E27FC236}">
                <a16:creationId xmlns:a16="http://schemas.microsoft.com/office/drawing/2014/main" id="{9F1B3063-ED83-1DA7-DF54-6D030658BF5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503750" y="2413301"/>
            <a:ext cx="3734557" cy="1293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-US" dirty="0"/>
              <a:t>An expert system is a rule-based AI system where: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rules are written by human experts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system applies those rules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conclusions are logically deduced</a:t>
            </a:r>
            <a:endParaRPr lang="en-US" b="1" dirty="0"/>
          </a:p>
          <a:p>
            <a:pPr marL="0" lvl="0" indent="0">
              <a:lnSpc>
                <a:spcPct val="150000"/>
              </a:lnSpc>
            </a:pPr>
            <a:endParaRPr dirty="0"/>
          </a:p>
        </p:txBody>
      </p:sp>
      <p:sp>
        <p:nvSpPr>
          <p:cNvPr id="266" name="Google Shape;266;p43">
            <a:extLst>
              <a:ext uri="{FF2B5EF4-FFF2-40B4-BE49-F238E27FC236}">
                <a16:creationId xmlns:a16="http://schemas.microsoft.com/office/drawing/2014/main" id="{00F9504C-8255-4DDA-C1E4-442C68BE5A7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48249" y="477645"/>
            <a:ext cx="59301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1️⃣ Simple search and query processing</a:t>
            </a:r>
            <a:endParaRPr dirty="0"/>
          </a:p>
        </p:txBody>
      </p:sp>
      <p:sp>
        <p:nvSpPr>
          <p:cNvPr id="267" name="Google Shape;267;p43">
            <a:extLst>
              <a:ext uri="{FF2B5EF4-FFF2-40B4-BE49-F238E27FC236}">
                <a16:creationId xmlns:a16="http://schemas.microsoft.com/office/drawing/2014/main" id="{91D2737C-CA89-6083-A22A-A0A6D64E81F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048249" y="2091985"/>
            <a:ext cx="59301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2️⃣ (Deductive) Expert Systems</a:t>
            </a:r>
            <a:endParaRPr lang="en" dirty="0"/>
          </a:p>
        </p:txBody>
      </p:sp>
      <p:sp>
        <p:nvSpPr>
          <p:cNvPr id="2" name="Google Shape;265;p43">
            <a:extLst>
              <a:ext uri="{FF2B5EF4-FFF2-40B4-BE49-F238E27FC236}">
                <a16:creationId xmlns:a16="http://schemas.microsoft.com/office/drawing/2014/main" id="{F5509835-43AD-07F4-F19D-462ECAA0F521}"/>
              </a:ext>
            </a:extLst>
          </p:cNvPr>
          <p:cNvSpPr txBox="1">
            <a:spLocks/>
          </p:cNvSpPr>
          <p:nvPr/>
        </p:nvSpPr>
        <p:spPr>
          <a:xfrm>
            <a:off x="1438109" y="4268896"/>
            <a:ext cx="2736942" cy="689086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Data mining emphasizes: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    automated discovery from data</a:t>
            </a:r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389310D5-6F2C-278A-F0BC-1901517E4DE4}"/>
              </a:ext>
            </a:extLst>
          </p:cNvPr>
          <p:cNvSpPr txBox="1">
            <a:spLocks/>
          </p:cNvSpPr>
          <p:nvPr/>
        </p:nvSpPr>
        <p:spPr>
          <a:xfrm>
            <a:off x="975520" y="3799641"/>
            <a:ext cx="5930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🔍 Why it is different</a:t>
            </a:r>
            <a:endParaRPr lang="en" dirty="0"/>
          </a:p>
        </p:txBody>
      </p:sp>
      <p:sp>
        <p:nvSpPr>
          <p:cNvPr id="5" name="Google Shape;274;p44">
            <a:extLst>
              <a:ext uri="{FF2B5EF4-FFF2-40B4-BE49-F238E27FC236}">
                <a16:creationId xmlns:a16="http://schemas.microsoft.com/office/drawing/2014/main" id="{A0DD3501-2066-DDB6-EB59-8C156A3316AC}"/>
              </a:ext>
            </a:extLst>
          </p:cNvPr>
          <p:cNvSpPr txBox="1">
            <a:spLocks/>
          </p:cNvSpPr>
          <p:nvPr/>
        </p:nvSpPr>
        <p:spPr>
          <a:xfrm>
            <a:off x="3639467" y="1035176"/>
            <a:ext cx="2981330" cy="8135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60961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dirty="0"/>
              <a:t>✅ retrieve known information</a:t>
            </a:r>
            <a:br>
              <a:rPr lang="en-US" dirty="0"/>
            </a:br>
            <a:r>
              <a:rPr lang="en-US" dirty="0"/>
              <a:t>❌ do NOT discover new knowledge</a:t>
            </a:r>
          </a:p>
        </p:txBody>
      </p:sp>
      <p:sp>
        <p:nvSpPr>
          <p:cNvPr id="6" name="Google Shape;274;p44">
            <a:extLst>
              <a:ext uri="{FF2B5EF4-FFF2-40B4-BE49-F238E27FC236}">
                <a16:creationId xmlns:a16="http://schemas.microsoft.com/office/drawing/2014/main" id="{E7B8133D-FF44-5A68-476F-0A8245D335F6}"/>
              </a:ext>
            </a:extLst>
          </p:cNvPr>
          <p:cNvSpPr txBox="1">
            <a:spLocks/>
          </p:cNvSpPr>
          <p:nvPr/>
        </p:nvSpPr>
        <p:spPr>
          <a:xfrm>
            <a:off x="6616842" y="1153806"/>
            <a:ext cx="1651745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60961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b="1" dirty="0">
                <a:sym typeface="Wingdings" panose="05000000000000000000" pitchFamily="2" charset="2"/>
              </a:rPr>
              <a:t> </a:t>
            </a:r>
            <a:r>
              <a:rPr lang="en-US" b="1" dirty="0"/>
              <a:t>Not Data Mining</a:t>
            </a:r>
          </a:p>
        </p:txBody>
      </p:sp>
      <p:sp>
        <p:nvSpPr>
          <p:cNvPr id="7" name="Google Shape;274;p44">
            <a:extLst>
              <a:ext uri="{FF2B5EF4-FFF2-40B4-BE49-F238E27FC236}">
                <a16:creationId xmlns:a16="http://schemas.microsoft.com/office/drawing/2014/main" id="{567E23D1-1F26-90D6-FFB1-4EFE3C489295}"/>
              </a:ext>
            </a:extLst>
          </p:cNvPr>
          <p:cNvSpPr txBox="1">
            <a:spLocks/>
          </p:cNvSpPr>
          <p:nvPr/>
        </p:nvSpPr>
        <p:spPr>
          <a:xfrm>
            <a:off x="4783828" y="2711351"/>
            <a:ext cx="2708427" cy="9381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52400" indent="0">
              <a:buNone/>
            </a:pPr>
            <a:r>
              <a:rPr lang="en-US" dirty="0"/>
              <a:t>System behavior:</a:t>
            </a:r>
          </a:p>
          <a:p>
            <a:r>
              <a:rPr lang="en-US" dirty="0"/>
              <a:t>rules are predefined</a:t>
            </a:r>
          </a:p>
          <a:p>
            <a:r>
              <a:rPr lang="en-US" dirty="0"/>
              <a:t>knowledge is already known</a:t>
            </a:r>
          </a:p>
          <a:p>
            <a:r>
              <a:rPr lang="en-US" dirty="0"/>
              <a:t>no learning from data</a:t>
            </a:r>
          </a:p>
        </p:txBody>
      </p:sp>
      <p:sp>
        <p:nvSpPr>
          <p:cNvPr id="8" name="Google Shape;274;p44">
            <a:extLst>
              <a:ext uri="{FF2B5EF4-FFF2-40B4-BE49-F238E27FC236}">
                <a16:creationId xmlns:a16="http://schemas.microsoft.com/office/drawing/2014/main" id="{1C7849FA-8B43-1AA7-ACE6-8EA9FD402BE3}"/>
              </a:ext>
            </a:extLst>
          </p:cNvPr>
          <p:cNvSpPr txBox="1">
            <a:spLocks/>
          </p:cNvSpPr>
          <p:nvPr/>
        </p:nvSpPr>
        <p:spPr>
          <a:xfrm>
            <a:off x="7492255" y="2952440"/>
            <a:ext cx="1651745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60961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b="1" dirty="0">
                <a:sym typeface="Wingdings" panose="05000000000000000000" pitchFamily="2" charset="2"/>
              </a:rPr>
              <a:t> </a:t>
            </a:r>
            <a:r>
              <a:rPr lang="en-US" b="1" dirty="0"/>
              <a:t>Not Data Mining</a:t>
            </a:r>
          </a:p>
        </p:txBody>
      </p:sp>
      <p:sp>
        <p:nvSpPr>
          <p:cNvPr id="9" name="Google Shape;265;p43">
            <a:extLst>
              <a:ext uri="{FF2B5EF4-FFF2-40B4-BE49-F238E27FC236}">
                <a16:creationId xmlns:a16="http://schemas.microsoft.com/office/drawing/2014/main" id="{112F0C3F-04B9-D289-2143-4BCA5773B3C5}"/>
              </a:ext>
            </a:extLst>
          </p:cNvPr>
          <p:cNvSpPr txBox="1">
            <a:spLocks/>
          </p:cNvSpPr>
          <p:nvPr/>
        </p:nvSpPr>
        <p:spPr>
          <a:xfrm>
            <a:off x="4783828" y="4255641"/>
            <a:ext cx="2736942" cy="689086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Expert systems emphasize: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human-encoded knowledge       </a:t>
            </a:r>
          </a:p>
        </p:txBody>
      </p:sp>
    </p:spTree>
    <p:extLst>
      <p:ext uri="{BB962C8B-B14F-4D97-AF65-F5344CB8AC3E}">
        <p14:creationId xmlns:p14="http://schemas.microsoft.com/office/powerpoint/2010/main" val="400167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8299EE6F-563D-EFE1-2920-234C695E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>
            <a:extLst>
              <a:ext uri="{FF2B5EF4-FFF2-40B4-BE49-F238E27FC236}">
                <a16:creationId xmlns:a16="http://schemas.microsoft.com/office/drawing/2014/main" id="{00E316B1-4D0E-F757-F2A3-48AF8F0C48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38109" y="791877"/>
            <a:ext cx="6061383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finds hidden patterns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learns from data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produces new knowledge</a:t>
            </a:r>
          </a:p>
        </p:txBody>
      </p:sp>
      <p:sp>
        <p:nvSpPr>
          <p:cNvPr id="265" name="Google Shape;265;p43">
            <a:extLst>
              <a:ext uri="{FF2B5EF4-FFF2-40B4-BE49-F238E27FC236}">
                <a16:creationId xmlns:a16="http://schemas.microsoft.com/office/drawing/2014/main" id="{5EA198AE-D6DA-D142-BBCD-C792C91BBF2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503750" y="2002178"/>
            <a:ext cx="6243836" cy="1038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fetches existing data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no learning</a:t>
            </a: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no new knowledge</a:t>
            </a:r>
            <a:endParaRPr dirty="0"/>
          </a:p>
        </p:txBody>
      </p:sp>
      <p:sp>
        <p:nvSpPr>
          <p:cNvPr id="266" name="Google Shape;266;p43">
            <a:extLst>
              <a:ext uri="{FF2B5EF4-FFF2-40B4-BE49-F238E27FC236}">
                <a16:creationId xmlns:a16="http://schemas.microsoft.com/office/drawing/2014/main" id="{A0B70A0F-F72D-DCA9-6482-BDFE9AB4916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48249" y="477645"/>
            <a:ext cx="59301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✅ Data mining = discovery</a:t>
            </a:r>
            <a:endParaRPr dirty="0"/>
          </a:p>
        </p:txBody>
      </p:sp>
      <p:sp>
        <p:nvSpPr>
          <p:cNvPr id="267" name="Google Shape;267;p43">
            <a:extLst>
              <a:ext uri="{FF2B5EF4-FFF2-40B4-BE49-F238E27FC236}">
                <a16:creationId xmlns:a16="http://schemas.microsoft.com/office/drawing/2014/main" id="{9502FD7E-9593-71C8-3ED2-8FE6F4AE950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048249" y="1680862"/>
            <a:ext cx="59301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❌ Query processing = retrieval</a:t>
            </a:r>
            <a:endParaRPr lang="en" dirty="0"/>
          </a:p>
        </p:txBody>
      </p:sp>
      <p:sp>
        <p:nvSpPr>
          <p:cNvPr id="2" name="Google Shape;265;p43">
            <a:extLst>
              <a:ext uri="{FF2B5EF4-FFF2-40B4-BE49-F238E27FC236}">
                <a16:creationId xmlns:a16="http://schemas.microsoft.com/office/drawing/2014/main" id="{0F4707D7-4C02-7BEE-ADD2-0A11C78F2061}"/>
              </a:ext>
            </a:extLst>
          </p:cNvPr>
          <p:cNvSpPr txBox="1">
            <a:spLocks/>
          </p:cNvSpPr>
          <p:nvPr/>
        </p:nvSpPr>
        <p:spPr>
          <a:xfrm>
            <a:off x="1438109" y="3354500"/>
            <a:ext cx="6243836" cy="103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uses human-written rules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deductive reasoning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no pattern discovery</a:t>
            </a:r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9989499D-6604-5437-A398-CB2FFD27FA9F}"/>
              </a:ext>
            </a:extLst>
          </p:cNvPr>
          <p:cNvSpPr txBox="1">
            <a:spLocks/>
          </p:cNvSpPr>
          <p:nvPr/>
        </p:nvSpPr>
        <p:spPr>
          <a:xfrm>
            <a:off x="982608" y="3033184"/>
            <a:ext cx="5930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❌ Expert systems = rule application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050067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C2894090-8BB2-4AFD-D607-3F4571C4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>
            <a:extLst>
              <a:ext uri="{FF2B5EF4-FFF2-40B4-BE49-F238E27FC236}">
                <a16:creationId xmlns:a16="http://schemas.microsoft.com/office/drawing/2014/main" id="{6B653A3B-2655-9C53-B8BD-C1F07C73FB5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6242" y="2062715"/>
            <a:ext cx="6245681" cy="196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Running an SQL query to list all customers from Jakarta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A rule-based medical expert system diagnosing flu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Using K-Means to segment customers into groups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Filtering transactions where amount &gt; 1,000,000</a:t>
            </a:r>
            <a:endParaRPr sz="1400" dirty="0"/>
          </a:p>
        </p:txBody>
      </p:sp>
      <p:sp>
        <p:nvSpPr>
          <p:cNvPr id="294" name="Google Shape;294;p45">
            <a:extLst>
              <a:ext uri="{FF2B5EF4-FFF2-40B4-BE49-F238E27FC236}">
                <a16:creationId xmlns:a16="http://schemas.microsoft.com/office/drawing/2014/main" id="{04042C51-2B29-391D-B98F-F9BA8567F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6342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Question</a:t>
            </a:r>
            <a:endParaRPr dirty="0"/>
          </a:p>
        </p:txBody>
      </p:sp>
      <p:sp>
        <p:nvSpPr>
          <p:cNvPr id="4" name="Google Shape;295;p45"/>
          <p:cNvSpPr txBox="1">
            <a:spLocks/>
          </p:cNvSpPr>
          <p:nvPr/>
        </p:nvSpPr>
        <p:spPr>
          <a:xfrm>
            <a:off x="1296242" y="1182937"/>
            <a:ext cx="5288751" cy="780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/>
              <a:t>Which of the following is an example of </a:t>
            </a:r>
            <a:r>
              <a:rPr lang="en-US" b="1"/>
              <a:t>data mining</a:t>
            </a:r>
            <a:r>
              <a:rPr lang="en-US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507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>
            <a:spLocks noGrp="1"/>
          </p:cNvSpPr>
          <p:nvPr>
            <p:ph type="subTitle" idx="1"/>
          </p:nvPr>
        </p:nvSpPr>
        <p:spPr>
          <a:xfrm>
            <a:off x="1296242" y="2062715"/>
            <a:ext cx="6245681" cy="196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Query processing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Expert system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Data mining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Database retrieval</a:t>
            </a:r>
            <a:endParaRPr sz="1400" dirty="0"/>
          </a:p>
        </p:txBody>
      </p:sp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296342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Question</a:t>
            </a:r>
            <a:endParaRPr dirty="0"/>
          </a:p>
        </p:txBody>
      </p:sp>
      <p:sp>
        <p:nvSpPr>
          <p:cNvPr id="10" name="Google Shape;295;p45">
            <a:extLst>
              <a:ext uri="{FF2B5EF4-FFF2-40B4-BE49-F238E27FC236}">
                <a16:creationId xmlns:a16="http://schemas.microsoft.com/office/drawing/2014/main" id="{A6F3CA64-1EFE-E363-4469-CEAAE9AAA038}"/>
              </a:ext>
            </a:extLst>
          </p:cNvPr>
          <p:cNvSpPr txBox="1">
            <a:spLocks/>
          </p:cNvSpPr>
          <p:nvPr/>
        </p:nvSpPr>
        <p:spPr>
          <a:xfrm>
            <a:off x="1296242" y="1182936"/>
            <a:ext cx="6685265" cy="780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A company builds a model using historical data to predict whether a customer will churn. What is this?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E004545F-1D6C-6C99-6BF4-5E196AA1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>
            <a:extLst>
              <a:ext uri="{FF2B5EF4-FFF2-40B4-BE49-F238E27FC236}">
                <a16:creationId xmlns:a16="http://schemas.microsoft.com/office/drawing/2014/main" id="{70D6C652-3CF3-7319-C3E7-62BFFECF72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6242" y="2062715"/>
            <a:ext cx="6245681" cy="196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Information harvesting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Data archaeology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Data dredging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lphaUcPeriod"/>
            </a:pPr>
            <a:r>
              <a:rPr lang="en-US" sz="1400" dirty="0"/>
              <a:t>Feature engineering</a:t>
            </a:r>
            <a:endParaRPr sz="1400" dirty="0"/>
          </a:p>
        </p:txBody>
      </p:sp>
      <p:sp>
        <p:nvSpPr>
          <p:cNvPr id="294" name="Google Shape;294;p45">
            <a:extLst>
              <a:ext uri="{FF2B5EF4-FFF2-40B4-BE49-F238E27FC236}">
                <a16:creationId xmlns:a16="http://schemas.microsoft.com/office/drawing/2014/main" id="{7686AABC-CCEF-6907-E430-904F3C105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6342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Question</a:t>
            </a:r>
            <a:endParaRPr dirty="0"/>
          </a:p>
        </p:txBody>
      </p:sp>
      <p:sp>
        <p:nvSpPr>
          <p:cNvPr id="10" name="Google Shape;295;p45">
            <a:extLst>
              <a:ext uri="{FF2B5EF4-FFF2-40B4-BE49-F238E27FC236}">
                <a16:creationId xmlns:a16="http://schemas.microsoft.com/office/drawing/2014/main" id="{AAAE9D61-B588-C766-1569-8D8A1F5C9296}"/>
              </a:ext>
            </a:extLst>
          </p:cNvPr>
          <p:cNvSpPr txBox="1">
            <a:spLocks/>
          </p:cNvSpPr>
          <p:nvPr/>
        </p:nvSpPr>
        <p:spPr>
          <a:xfrm>
            <a:off x="1296242" y="1182936"/>
            <a:ext cx="6685265" cy="780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An analyst tests 500 different correlations and reports only the significant ones. This practice is called:</a:t>
            </a:r>
          </a:p>
        </p:txBody>
      </p:sp>
    </p:spTree>
    <p:extLst>
      <p:ext uri="{BB962C8B-B14F-4D97-AF65-F5344CB8AC3E}">
        <p14:creationId xmlns:p14="http://schemas.microsoft.com/office/powerpoint/2010/main" val="1244212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ta_Mining_vs_Data_Dredging_Animated.gif">
            <a:extLst>
              <a:ext uri="{FF2B5EF4-FFF2-40B4-BE49-F238E27FC236}">
                <a16:creationId xmlns:a16="http://schemas.microsoft.com/office/drawing/2014/main" id="{21FC1E3F-B5CF-B7A2-E85C-EE7752478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58" y="837934"/>
            <a:ext cx="5543108" cy="3467631"/>
          </a:xfrm>
          <a:prstGeom prst="rect">
            <a:avLst/>
          </a:prstGeom>
        </p:spPr>
      </p:pic>
      <p:sp>
        <p:nvSpPr>
          <p:cNvPr id="4" name="Google Shape;294;p45">
            <a:extLst>
              <a:ext uri="{FF2B5EF4-FFF2-40B4-BE49-F238E27FC236}">
                <a16:creationId xmlns:a16="http://schemas.microsoft.com/office/drawing/2014/main" id="{07E4B78F-2613-7F41-7191-6CFF4C42F4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9219" y="215426"/>
            <a:ext cx="6819014" cy="691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Both methods search data — so what’s the danger?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95742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71B78EC8-866D-32AA-2837-1B8B4B32F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>
            <a:extLst>
              <a:ext uri="{FF2B5EF4-FFF2-40B4-BE49-F238E27FC236}">
                <a16:creationId xmlns:a16="http://schemas.microsoft.com/office/drawing/2014/main" id="{E9F995FE-5AF3-0738-0883-DE73DE7597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6342" y="1630326"/>
            <a:ext cx="6245681" cy="7868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sz="1400" dirty="0">
                <a:hlinkClick r:id="rId3"/>
              </a:rPr>
              <a:t>https://colab.research.google.com/drive/1i92JEuuqsuDJ_kCx9jFHh1k-6RZ-RKiT#scrollTo=bf6045e3</a:t>
            </a:r>
            <a:endParaRPr lang="en-US" sz="1400" dirty="0"/>
          </a:p>
          <a:p>
            <a:pPr marL="0" lvl="0" indent="0">
              <a:lnSpc>
                <a:spcPct val="150000"/>
              </a:lnSpc>
            </a:pPr>
            <a:endParaRPr sz="1400" dirty="0"/>
          </a:p>
        </p:txBody>
      </p:sp>
      <p:sp>
        <p:nvSpPr>
          <p:cNvPr id="294" name="Google Shape;294;p45">
            <a:extLst>
              <a:ext uri="{FF2B5EF4-FFF2-40B4-BE49-F238E27FC236}">
                <a16:creationId xmlns:a16="http://schemas.microsoft.com/office/drawing/2014/main" id="{F6E69948-D2FD-F5CC-18AB-E92F4C762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6342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Example</a:t>
            </a:r>
            <a:endParaRPr dirty="0"/>
          </a:p>
        </p:txBody>
      </p:sp>
      <p:sp>
        <p:nvSpPr>
          <p:cNvPr id="2" name="Google Shape;295;p45">
            <a:extLst>
              <a:ext uri="{FF2B5EF4-FFF2-40B4-BE49-F238E27FC236}">
                <a16:creationId xmlns:a16="http://schemas.microsoft.com/office/drawing/2014/main" id="{4CE9959A-9D41-9A36-DC71-1AB79B0104D0}"/>
              </a:ext>
            </a:extLst>
          </p:cNvPr>
          <p:cNvSpPr txBox="1">
            <a:spLocks/>
          </p:cNvSpPr>
          <p:nvPr/>
        </p:nvSpPr>
        <p:spPr>
          <a:xfrm>
            <a:off x="1296242" y="1182936"/>
            <a:ext cx="6685265" cy="49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Data Dredging Simulation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BE51E-F1F3-A161-D786-C325726D3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571750"/>
            <a:ext cx="3397411" cy="240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52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D4B3B6B0-22F8-CED3-FDED-41FE7377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>
            <a:extLst>
              <a:ext uri="{FF2B5EF4-FFF2-40B4-BE49-F238E27FC236}">
                <a16:creationId xmlns:a16="http://schemas.microsoft.com/office/drawing/2014/main" id="{5E5D5A78-2212-20B8-4F8A-706502352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6342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Example</a:t>
            </a:r>
            <a:endParaRPr dirty="0"/>
          </a:p>
        </p:txBody>
      </p:sp>
      <p:sp>
        <p:nvSpPr>
          <p:cNvPr id="3" name="Google Shape;295;p45">
            <a:extLst>
              <a:ext uri="{FF2B5EF4-FFF2-40B4-BE49-F238E27FC236}">
                <a16:creationId xmlns:a16="http://schemas.microsoft.com/office/drawing/2014/main" id="{241B8761-8A37-DEB7-5F64-B579CD985C76}"/>
              </a:ext>
            </a:extLst>
          </p:cNvPr>
          <p:cNvSpPr txBox="1">
            <a:spLocks/>
          </p:cNvSpPr>
          <p:nvPr/>
        </p:nvSpPr>
        <p:spPr>
          <a:xfrm>
            <a:off x="1296242" y="1090283"/>
            <a:ext cx="6685265" cy="49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Data Mining example </a:t>
            </a:r>
          </a:p>
        </p:txBody>
      </p:sp>
      <p:sp>
        <p:nvSpPr>
          <p:cNvPr id="5" name="Google Shape;293;p45">
            <a:extLst>
              <a:ext uri="{FF2B5EF4-FFF2-40B4-BE49-F238E27FC236}">
                <a16:creationId xmlns:a16="http://schemas.microsoft.com/office/drawing/2014/main" id="{34923807-ED12-5376-C381-E4DB002C538F}"/>
              </a:ext>
            </a:extLst>
          </p:cNvPr>
          <p:cNvSpPr txBox="1">
            <a:spLocks/>
          </p:cNvSpPr>
          <p:nvPr/>
        </p:nvSpPr>
        <p:spPr>
          <a:xfrm>
            <a:off x="1296342" y="1534636"/>
            <a:ext cx="6245681" cy="78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400" dirty="0">
                <a:hlinkClick r:id="rId3"/>
              </a:rPr>
              <a:t>https://colab.research.google.com/drive/15sw7MSzcAjEH8SLWDSTjV7Wsf_JjAnAd#scrollTo=8c94116b</a:t>
            </a:r>
            <a:endParaRPr lang="en-US" sz="1400" dirty="0"/>
          </a:p>
          <a:p>
            <a:pPr marL="0" indent="0"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23526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07908A0F-9D77-6C68-5480-9AD9761E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1">
            <a:extLst>
              <a:ext uri="{FF2B5EF4-FFF2-40B4-BE49-F238E27FC236}">
                <a16:creationId xmlns:a16="http://schemas.microsoft.com/office/drawing/2014/main" id="{B92F34B8-259F-8B33-56C4-FFE5BEDA79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248" y="293995"/>
            <a:ext cx="822333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⚠️ </a:t>
            </a:r>
            <a:r>
              <a:rPr lang="en-US" sz="2400" dirty="0"/>
              <a:t>Distinguishing Data Mining from Data Dredging</a:t>
            </a:r>
            <a:endParaRPr sz="2400" dirty="0"/>
          </a:p>
        </p:txBody>
      </p:sp>
      <p:sp>
        <p:nvSpPr>
          <p:cNvPr id="509" name="Google Shape;509;p61">
            <a:extLst>
              <a:ext uri="{FF2B5EF4-FFF2-40B4-BE49-F238E27FC236}">
                <a16:creationId xmlns:a16="http://schemas.microsoft.com/office/drawing/2014/main" id="{BD1B6AC8-FA24-58C2-FF70-0BDB8791D424}"/>
              </a:ext>
            </a:extLst>
          </p:cNvPr>
          <p:cNvSpPr/>
          <p:nvPr/>
        </p:nvSpPr>
        <p:spPr>
          <a:xfrm>
            <a:off x="715096" y="141094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61">
            <a:extLst>
              <a:ext uri="{FF2B5EF4-FFF2-40B4-BE49-F238E27FC236}">
                <a16:creationId xmlns:a16="http://schemas.microsoft.com/office/drawing/2014/main" id="{F89377FA-310D-8D1C-DEC2-C701500778F5}"/>
              </a:ext>
            </a:extLst>
          </p:cNvPr>
          <p:cNvSpPr txBox="1"/>
          <p:nvPr/>
        </p:nvSpPr>
        <p:spPr>
          <a:xfrm>
            <a:off x="988399" y="1242800"/>
            <a:ext cx="6532361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Data Mining: systematic and validated discovery of meaningful patterns from data</a:t>
            </a:r>
          </a:p>
        </p:txBody>
      </p:sp>
      <p:sp>
        <p:nvSpPr>
          <p:cNvPr id="511" name="Google Shape;511;p61">
            <a:extLst>
              <a:ext uri="{FF2B5EF4-FFF2-40B4-BE49-F238E27FC236}">
                <a16:creationId xmlns:a16="http://schemas.microsoft.com/office/drawing/2014/main" id="{FE2C8F30-C0F1-30F7-D12E-375DD2E6B64A}"/>
              </a:ext>
            </a:extLst>
          </p:cNvPr>
          <p:cNvSpPr/>
          <p:nvPr/>
        </p:nvSpPr>
        <p:spPr>
          <a:xfrm>
            <a:off x="715096" y="186814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61">
            <a:extLst>
              <a:ext uri="{FF2B5EF4-FFF2-40B4-BE49-F238E27FC236}">
                <a16:creationId xmlns:a16="http://schemas.microsoft.com/office/drawing/2014/main" id="{57B01FDB-D9BC-A158-5021-CDDC20EB0FE4}"/>
              </a:ext>
            </a:extLst>
          </p:cNvPr>
          <p:cNvSpPr/>
          <p:nvPr/>
        </p:nvSpPr>
        <p:spPr>
          <a:xfrm>
            <a:off x="715096" y="232534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61">
            <a:extLst>
              <a:ext uri="{FF2B5EF4-FFF2-40B4-BE49-F238E27FC236}">
                <a16:creationId xmlns:a16="http://schemas.microsoft.com/office/drawing/2014/main" id="{27F1ABFC-4A60-A90E-8AD2-AA26C5A261D2}"/>
              </a:ext>
            </a:extLst>
          </p:cNvPr>
          <p:cNvSpPr txBox="1"/>
          <p:nvPr/>
        </p:nvSpPr>
        <p:spPr>
          <a:xfrm>
            <a:off x="988400" y="2157200"/>
            <a:ext cx="667413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Data Dredging: indiscriminate searching for statistically significant results without proper validation</a:t>
            </a:r>
          </a:p>
        </p:txBody>
      </p:sp>
      <p:sp>
        <p:nvSpPr>
          <p:cNvPr id="515" name="Google Shape;515;p61">
            <a:extLst>
              <a:ext uri="{FF2B5EF4-FFF2-40B4-BE49-F238E27FC236}">
                <a16:creationId xmlns:a16="http://schemas.microsoft.com/office/drawing/2014/main" id="{FA987FA3-263E-7E27-CBAE-2A9B2ABEBFB7}"/>
              </a:ext>
            </a:extLst>
          </p:cNvPr>
          <p:cNvSpPr/>
          <p:nvPr/>
        </p:nvSpPr>
        <p:spPr>
          <a:xfrm>
            <a:off x="715096" y="278254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61">
            <a:extLst>
              <a:ext uri="{FF2B5EF4-FFF2-40B4-BE49-F238E27FC236}">
                <a16:creationId xmlns:a16="http://schemas.microsoft.com/office/drawing/2014/main" id="{2A86C267-FC61-C063-8769-B7C162C5E84A}"/>
              </a:ext>
            </a:extLst>
          </p:cNvPr>
          <p:cNvSpPr/>
          <p:nvPr/>
        </p:nvSpPr>
        <p:spPr>
          <a:xfrm>
            <a:off x="715096" y="323974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61">
            <a:extLst>
              <a:ext uri="{FF2B5EF4-FFF2-40B4-BE49-F238E27FC236}">
                <a16:creationId xmlns:a16="http://schemas.microsoft.com/office/drawing/2014/main" id="{2787AE6B-C598-65ED-2916-30FC87A49B85}"/>
              </a:ext>
            </a:extLst>
          </p:cNvPr>
          <p:cNvSpPr txBox="1"/>
          <p:nvPr/>
        </p:nvSpPr>
        <p:spPr>
          <a:xfrm>
            <a:off x="988399" y="3071600"/>
            <a:ext cx="6532357" cy="625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 </a:t>
            </a:r>
            <a:r>
              <a:rPr lang="en-US" sz="1800" dirty="0"/>
              <a:t>Key Risk: Data dredging greatly increases false positives and misleading conclusions</a:t>
            </a:r>
          </a:p>
        </p:txBody>
      </p:sp>
      <p:sp>
        <p:nvSpPr>
          <p:cNvPr id="519" name="Google Shape;519;p61">
            <a:extLst>
              <a:ext uri="{FF2B5EF4-FFF2-40B4-BE49-F238E27FC236}">
                <a16:creationId xmlns:a16="http://schemas.microsoft.com/office/drawing/2014/main" id="{CCC4DCF1-0D62-B240-659B-EF5A88299409}"/>
              </a:ext>
            </a:extLst>
          </p:cNvPr>
          <p:cNvSpPr/>
          <p:nvPr/>
        </p:nvSpPr>
        <p:spPr>
          <a:xfrm>
            <a:off x="715096" y="369694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61">
            <a:extLst>
              <a:ext uri="{FF2B5EF4-FFF2-40B4-BE49-F238E27FC236}">
                <a16:creationId xmlns:a16="http://schemas.microsoft.com/office/drawing/2014/main" id="{C2A6FAA0-020F-ABDE-B474-417D540B9028}"/>
              </a:ext>
            </a:extLst>
          </p:cNvPr>
          <p:cNvSpPr/>
          <p:nvPr/>
        </p:nvSpPr>
        <p:spPr>
          <a:xfrm>
            <a:off x="715096" y="4154140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61">
            <a:extLst>
              <a:ext uri="{FF2B5EF4-FFF2-40B4-BE49-F238E27FC236}">
                <a16:creationId xmlns:a16="http://schemas.microsoft.com/office/drawing/2014/main" id="{5F3805E2-CC22-2741-F5E0-C8EF2833089B}"/>
              </a:ext>
            </a:extLst>
          </p:cNvPr>
          <p:cNvSpPr txBox="1"/>
          <p:nvPr/>
        </p:nvSpPr>
        <p:spPr>
          <a:xfrm>
            <a:off x="988399" y="3985999"/>
            <a:ext cx="6532355" cy="625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Best Practice: always use train/test split, cross‑validation, and hypothesis discipline</a:t>
            </a:r>
          </a:p>
        </p:txBody>
      </p:sp>
      <p:cxnSp>
        <p:nvCxnSpPr>
          <p:cNvPr id="523" name="Google Shape;523;p61">
            <a:extLst>
              <a:ext uri="{FF2B5EF4-FFF2-40B4-BE49-F238E27FC236}">
                <a16:creationId xmlns:a16="http://schemas.microsoft.com/office/drawing/2014/main" id="{D25A380B-D49E-BB54-DB05-10BA8C6DFB3B}"/>
              </a:ext>
            </a:extLst>
          </p:cNvPr>
          <p:cNvCxnSpPr>
            <a:stCxn id="509" idx="2"/>
            <a:endCxn id="511" idx="0"/>
          </p:cNvCxnSpPr>
          <p:nvPr/>
        </p:nvCxnSpPr>
        <p:spPr>
          <a:xfrm>
            <a:off x="775546" y="1531840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61">
            <a:extLst>
              <a:ext uri="{FF2B5EF4-FFF2-40B4-BE49-F238E27FC236}">
                <a16:creationId xmlns:a16="http://schemas.microsoft.com/office/drawing/2014/main" id="{269F0223-945D-E3E6-8E6A-88240F1401E3}"/>
              </a:ext>
            </a:extLst>
          </p:cNvPr>
          <p:cNvCxnSpPr>
            <a:stCxn id="511" idx="2"/>
            <a:endCxn id="513" idx="0"/>
          </p:cNvCxnSpPr>
          <p:nvPr/>
        </p:nvCxnSpPr>
        <p:spPr>
          <a:xfrm>
            <a:off x="775546" y="1989040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61">
            <a:extLst>
              <a:ext uri="{FF2B5EF4-FFF2-40B4-BE49-F238E27FC236}">
                <a16:creationId xmlns:a16="http://schemas.microsoft.com/office/drawing/2014/main" id="{939D850A-74C6-27AA-11BD-D5F11D9BFE62}"/>
              </a:ext>
            </a:extLst>
          </p:cNvPr>
          <p:cNvCxnSpPr>
            <a:stCxn id="513" idx="2"/>
            <a:endCxn id="515" idx="0"/>
          </p:cNvCxnSpPr>
          <p:nvPr/>
        </p:nvCxnSpPr>
        <p:spPr>
          <a:xfrm>
            <a:off x="775546" y="2446240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61">
            <a:extLst>
              <a:ext uri="{FF2B5EF4-FFF2-40B4-BE49-F238E27FC236}">
                <a16:creationId xmlns:a16="http://schemas.microsoft.com/office/drawing/2014/main" id="{31BB6A33-7DD4-4C01-3941-0A1C8BE1D0A6}"/>
              </a:ext>
            </a:extLst>
          </p:cNvPr>
          <p:cNvCxnSpPr>
            <a:stCxn id="515" idx="2"/>
            <a:endCxn id="517" idx="0"/>
          </p:cNvCxnSpPr>
          <p:nvPr/>
        </p:nvCxnSpPr>
        <p:spPr>
          <a:xfrm>
            <a:off x="775546" y="2903440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7" name="Google Shape;527;p61">
            <a:extLst>
              <a:ext uri="{FF2B5EF4-FFF2-40B4-BE49-F238E27FC236}">
                <a16:creationId xmlns:a16="http://schemas.microsoft.com/office/drawing/2014/main" id="{37830C13-9C2D-94D7-2A26-246E056C7E38}"/>
              </a:ext>
            </a:extLst>
          </p:cNvPr>
          <p:cNvCxnSpPr>
            <a:stCxn id="517" idx="2"/>
            <a:endCxn id="519" idx="0"/>
          </p:cNvCxnSpPr>
          <p:nvPr/>
        </p:nvCxnSpPr>
        <p:spPr>
          <a:xfrm>
            <a:off x="775546" y="3360640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61">
            <a:extLst>
              <a:ext uri="{FF2B5EF4-FFF2-40B4-BE49-F238E27FC236}">
                <a16:creationId xmlns:a16="http://schemas.microsoft.com/office/drawing/2014/main" id="{D148EB2A-BD17-57D9-4C1D-BD78151D1C4F}"/>
              </a:ext>
            </a:extLst>
          </p:cNvPr>
          <p:cNvCxnSpPr>
            <a:stCxn id="519" idx="2"/>
            <a:endCxn id="521" idx="0"/>
          </p:cNvCxnSpPr>
          <p:nvPr/>
        </p:nvCxnSpPr>
        <p:spPr>
          <a:xfrm>
            <a:off x="775546" y="3817840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54049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0E27E09F-ED9A-A7E2-4F48-25717D157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EEB2EB8E-08FC-0B11-5DE4-68AEA04960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92911" y="1027164"/>
            <a:ext cx="7558177" cy="1112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600" dirty="0"/>
              <a:t>This is a view from typical database systems and data warehousing </a:t>
            </a:r>
          </a:p>
          <a:p>
            <a:r>
              <a:rPr lang="en-US" sz="1600" dirty="0"/>
              <a:t>communities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/>
              <a:t>Data mining plays an essential role in the knowledge discovery </a:t>
            </a:r>
          </a:p>
          <a:p>
            <a:r>
              <a:rPr lang="en-US" sz="1600" dirty="0"/>
              <a:t>Process</a:t>
            </a:r>
          </a:p>
        </p:txBody>
      </p:sp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AF67EADE-55E6-FCCD-2C9E-BC4EF2AD4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50" y="379056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Knowledge Discovery (KDD) Process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710A75-1C6B-1A20-CA27-CB25A1406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188" y="2337740"/>
            <a:ext cx="4869712" cy="240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63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7E6AECAC-3E9F-0BC7-C8F0-8A8028992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>
            <a:extLst>
              <a:ext uri="{FF2B5EF4-FFF2-40B4-BE49-F238E27FC236}">
                <a16:creationId xmlns:a16="http://schemas.microsoft.com/office/drawing/2014/main" id="{2363ED73-1A5C-CF87-D02E-7460CB27A4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6759" y="4403601"/>
            <a:ext cx="6245681" cy="509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sz="1400" dirty="0"/>
              <a:t>This is a view from typical machine learning and statistics communities</a:t>
            </a:r>
            <a:endParaRPr sz="1400" dirty="0"/>
          </a:p>
        </p:txBody>
      </p:sp>
      <p:sp>
        <p:nvSpPr>
          <p:cNvPr id="294" name="Google Shape;294;p45">
            <a:extLst>
              <a:ext uri="{FF2B5EF4-FFF2-40B4-BE49-F238E27FC236}">
                <a16:creationId xmlns:a16="http://schemas.microsoft.com/office/drawing/2014/main" id="{CC6B3BFE-9EEE-CE88-5228-F2773EC2C1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009" y="535000"/>
            <a:ext cx="8528233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KDD Process: A Typical View from ML and Statistics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4C6E7-0FFC-07A3-BAB9-92A6AED0A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79" y="1263873"/>
            <a:ext cx="7350642" cy="290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00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>
            <a:spLocks noGrp="1"/>
          </p:cNvSpPr>
          <p:nvPr>
            <p:ph type="title"/>
          </p:nvPr>
        </p:nvSpPr>
        <p:spPr>
          <a:xfrm>
            <a:off x="424477" y="508079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Tasks</a:t>
            </a:r>
            <a:endParaRPr dirty="0"/>
          </a:p>
        </p:txBody>
      </p:sp>
      <p:sp>
        <p:nvSpPr>
          <p:cNvPr id="436" name="Google Shape;436;p55"/>
          <p:cNvSpPr txBox="1">
            <a:spLocks noGrp="1"/>
          </p:cNvSpPr>
          <p:nvPr>
            <p:ph type="subTitle" idx="1"/>
          </p:nvPr>
        </p:nvSpPr>
        <p:spPr>
          <a:xfrm>
            <a:off x="552893" y="1355053"/>
            <a:ext cx="8038213" cy="12166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Supervised Learning (with Label)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   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Learn from labeled data to predict outcomes.</a:t>
            </a:r>
          </a:p>
          <a:p>
            <a:pPr marL="0" indent="0">
              <a:lnSpc>
                <a:spcPct val="150000"/>
              </a:lnSpc>
            </a:pPr>
            <a:endParaRPr lang="en-US" dirty="0"/>
          </a:p>
          <a:p>
            <a:pPr marL="0" lvl="0" indent="0"/>
            <a:endParaRPr dirty="0"/>
          </a:p>
        </p:txBody>
      </p:sp>
      <p:sp>
        <p:nvSpPr>
          <p:cNvPr id="2" name="Google Shape;263;p43">
            <a:extLst>
              <a:ext uri="{FF2B5EF4-FFF2-40B4-BE49-F238E27FC236}">
                <a16:creationId xmlns:a16="http://schemas.microsoft.com/office/drawing/2014/main" id="{3F836A55-1CF3-31BB-D4D6-85A8B4B29B65}"/>
              </a:ext>
            </a:extLst>
          </p:cNvPr>
          <p:cNvSpPr txBox="1">
            <a:spLocks/>
          </p:cNvSpPr>
          <p:nvPr/>
        </p:nvSpPr>
        <p:spPr>
          <a:xfrm>
            <a:off x="4727255" y="3182236"/>
            <a:ext cx="3465400" cy="19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Algorithm: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Decision Tree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Logistic Regression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SVM (Support Vector Machine)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Neural Network</a:t>
            </a:r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6F959002-73BB-5671-247A-F873875855D0}"/>
              </a:ext>
            </a:extLst>
          </p:cNvPr>
          <p:cNvSpPr txBox="1">
            <a:spLocks/>
          </p:cNvSpPr>
          <p:nvPr/>
        </p:nvSpPr>
        <p:spPr>
          <a:xfrm>
            <a:off x="552892" y="2577468"/>
            <a:ext cx="5367617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🔹 Classification: </a:t>
            </a:r>
            <a:r>
              <a:rPr lang="en-US" sz="1400" dirty="0">
                <a:latin typeface="Albert Sans"/>
                <a:sym typeface="Albert Sans"/>
              </a:rPr>
              <a:t>Predict categorical label</a:t>
            </a:r>
            <a:endParaRPr lang="en" sz="1400" dirty="0">
              <a:latin typeface="Albert Sans"/>
              <a:sym typeface="Albert Sans"/>
            </a:endParaRPr>
          </a:p>
        </p:txBody>
      </p:sp>
      <p:sp>
        <p:nvSpPr>
          <p:cNvPr id="4" name="Google Shape;263;p43">
            <a:extLst>
              <a:ext uri="{FF2B5EF4-FFF2-40B4-BE49-F238E27FC236}">
                <a16:creationId xmlns:a16="http://schemas.microsoft.com/office/drawing/2014/main" id="{A4901162-1A6A-E0FA-A581-EA7F3F752A68}"/>
              </a:ext>
            </a:extLst>
          </p:cNvPr>
          <p:cNvSpPr txBox="1">
            <a:spLocks/>
          </p:cNvSpPr>
          <p:nvPr/>
        </p:nvSpPr>
        <p:spPr>
          <a:xfrm>
            <a:off x="1012471" y="3572128"/>
            <a:ext cx="2885275" cy="148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Fraud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Disease diagnosis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Spam detection</a:t>
            </a:r>
          </a:p>
        </p:txBody>
      </p:sp>
      <p:sp>
        <p:nvSpPr>
          <p:cNvPr id="5" name="Google Shape;267;p43">
            <a:extLst>
              <a:ext uri="{FF2B5EF4-FFF2-40B4-BE49-F238E27FC236}">
                <a16:creationId xmlns:a16="http://schemas.microsoft.com/office/drawing/2014/main" id="{3D6073E9-26C4-76CE-72E9-F95893CE1273}"/>
              </a:ext>
            </a:extLst>
          </p:cNvPr>
          <p:cNvSpPr txBox="1">
            <a:spLocks/>
          </p:cNvSpPr>
          <p:nvPr/>
        </p:nvSpPr>
        <p:spPr>
          <a:xfrm>
            <a:off x="552892" y="3116128"/>
            <a:ext cx="2885275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sz="1400" dirty="0">
                <a:latin typeface="Albert Sans"/>
                <a:sym typeface="Albert Sans"/>
              </a:rPr>
              <a:t>        Goal </a:t>
            </a:r>
            <a:r>
              <a:rPr lang="en-US" sz="1400" dirty="0">
                <a:latin typeface="Albert Sans"/>
                <a:sym typeface="Wingdings" panose="05000000000000000000" pitchFamily="2" charset="2"/>
              </a:rPr>
              <a:t></a:t>
            </a:r>
            <a:r>
              <a:rPr lang="en-US" sz="1400" dirty="0">
                <a:latin typeface="Albert Sans"/>
                <a:sym typeface="Albert Sans"/>
              </a:rPr>
              <a:t> Predict Class</a:t>
            </a:r>
            <a:endParaRPr lang="en" sz="1400" dirty="0">
              <a:latin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3A0B52E8-9042-82F3-8C49-CCC939BF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>
            <a:extLst>
              <a:ext uri="{FF2B5EF4-FFF2-40B4-BE49-F238E27FC236}">
                <a16:creationId xmlns:a16="http://schemas.microsoft.com/office/drawing/2014/main" id="{39B28954-70DD-2497-FB35-6E2E91DA7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477" y="508079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Tasks</a:t>
            </a:r>
            <a:endParaRPr dirty="0"/>
          </a:p>
        </p:txBody>
      </p:sp>
      <p:sp>
        <p:nvSpPr>
          <p:cNvPr id="436" name="Google Shape;436;p55">
            <a:extLst>
              <a:ext uri="{FF2B5EF4-FFF2-40B4-BE49-F238E27FC236}">
                <a16:creationId xmlns:a16="http://schemas.microsoft.com/office/drawing/2014/main" id="{19A54ED0-7F67-EE18-E62A-ABB018D6CDE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2893" y="1355053"/>
            <a:ext cx="8038213" cy="12166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Supervised Learning (with Label)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   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Learn from labeled data to predict outcomes.</a:t>
            </a:r>
          </a:p>
          <a:p>
            <a:pPr marL="0" indent="0">
              <a:lnSpc>
                <a:spcPct val="150000"/>
              </a:lnSpc>
            </a:pPr>
            <a:endParaRPr lang="en-US" dirty="0"/>
          </a:p>
          <a:p>
            <a:pPr marL="0" lvl="0" indent="0"/>
            <a:endParaRPr dirty="0"/>
          </a:p>
        </p:txBody>
      </p:sp>
      <p:sp>
        <p:nvSpPr>
          <p:cNvPr id="2" name="Google Shape;263;p43">
            <a:extLst>
              <a:ext uri="{FF2B5EF4-FFF2-40B4-BE49-F238E27FC236}">
                <a16:creationId xmlns:a16="http://schemas.microsoft.com/office/drawing/2014/main" id="{93DAEFA9-32BC-194B-4F0E-DEEDEDE26C2A}"/>
              </a:ext>
            </a:extLst>
          </p:cNvPr>
          <p:cNvSpPr txBox="1">
            <a:spLocks/>
          </p:cNvSpPr>
          <p:nvPr/>
        </p:nvSpPr>
        <p:spPr>
          <a:xfrm>
            <a:off x="5125706" y="3376484"/>
            <a:ext cx="3465400" cy="160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Algorithm: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Linear Regression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Random Forest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Gradient Boosting</a:t>
            </a:r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75A38B96-666D-CDB0-4A69-8294682EC20F}"/>
              </a:ext>
            </a:extLst>
          </p:cNvPr>
          <p:cNvSpPr txBox="1">
            <a:spLocks/>
          </p:cNvSpPr>
          <p:nvPr/>
        </p:nvSpPr>
        <p:spPr>
          <a:xfrm>
            <a:off x="552892" y="2577468"/>
            <a:ext cx="4887326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🔹 Regression : </a:t>
            </a:r>
            <a:r>
              <a:rPr lang="en-US" sz="1400" dirty="0">
                <a:latin typeface="Albert Sans"/>
                <a:sym typeface="Albert Sans"/>
              </a:rPr>
              <a:t>Predict numeric value</a:t>
            </a:r>
            <a:endParaRPr lang="en" sz="1400" dirty="0">
              <a:latin typeface="Albert Sans"/>
              <a:sym typeface="Albert Sans"/>
            </a:endParaRPr>
          </a:p>
        </p:txBody>
      </p:sp>
      <p:sp>
        <p:nvSpPr>
          <p:cNvPr id="4" name="Google Shape;263;p43">
            <a:extLst>
              <a:ext uri="{FF2B5EF4-FFF2-40B4-BE49-F238E27FC236}">
                <a16:creationId xmlns:a16="http://schemas.microsoft.com/office/drawing/2014/main" id="{C16A047C-F7B3-607A-D8D2-AE5CCDA769D4}"/>
              </a:ext>
            </a:extLst>
          </p:cNvPr>
          <p:cNvSpPr txBox="1">
            <a:spLocks/>
          </p:cNvSpPr>
          <p:nvPr/>
        </p:nvSpPr>
        <p:spPr>
          <a:xfrm>
            <a:off x="886690" y="3665472"/>
            <a:ext cx="2885275" cy="140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House price prediction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Sales forecasting</a:t>
            </a:r>
          </a:p>
        </p:txBody>
      </p:sp>
      <p:sp>
        <p:nvSpPr>
          <p:cNvPr id="5" name="Google Shape;267;p43">
            <a:extLst>
              <a:ext uri="{FF2B5EF4-FFF2-40B4-BE49-F238E27FC236}">
                <a16:creationId xmlns:a16="http://schemas.microsoft.com/office/drawing/2014/main" id="{499EDADB-84BA-C18A-0EEC-398A0610EAC4}"/>
              </a:ext>
            </a:extLst>
          </p:cNvPr>
          <p:cNvSpPr txBox="1">
            <a:spLocks/>
          </p:cNvSpPr>
          <p:nvPr/>
        </p:nvSpPr>
        <p:spPr>
          <a:xfrm>
            <a:off x="552892" y="3116128"/>
            <a:ext cx="2885275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sz="1400" dirty="0">
                <a:latin typeface="Albert Sans"/>
                <a:sym typeface="Albert Sans"/>
              </a:rPr>
              <a:t>        Goal </a:t>
            </a:r>
            <a:r>
              <a:rPr lang="en-US" sz="1400" dirty="0">
                <a:latin typeface="Albert Sans"/>
                <a:sym typeface="Wingdings" panose="05000000000000000000" pitchFamily="2" charset="2"/>
              </a:rPr>
              <a:t></a:t>
            </a:r>
            <a:r>
              <a:rPr lang="en-US" sz="1400" dirty="0">
                <a:latin typeface="Albert Sans"/>
                <a:sym typeface="Albert Sans"/>
              </a:rPr>
              <a:t> Predict Value</a:t>
            </a:r>
            <a:endParaRPr lang="en" sz="1400" dirty="0">
              <a:latin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4185383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8666DD2D-0092-9EB6-5FBF-490A5903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>
            <a:extLst>
              <a:ext uri="{FF2B5EF4-FFF2-40B4-BE49-F238E27FC236}">
                <a16:creationId xmlns:a16="http://schemas.microsoft.com/office/drawing/2014/main" id="{D8E35AC9-F0DE-F92C-67E5-C54E915F1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477" y="508079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Tasks</a:t>
            </a:r>
            <a:endParaRPr dirty="0"/>
          </a:p>
        </p:txBody>
      </p:sp>
      <p:sp>
        <p:nvSpPr>
          <p:cNvPr id="436" name="Google Shape;436;p55">
            <a:extLst>
              <a:ext uri="{FF2B5EF4-FFF2-40B4-BE49-F238E27FC236}">
                <a16:creationId xmlns:a16="http://schemas.microsoft.com/office/drawing/2014/main" id="{04625F5A-C70F-9389-48A4-E2FD990315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2893" y="1343859"/>
            <a:ext cx="8038213" cy="1029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buFont typeface="Wingdings" panose="05000000000000000000" pitchFamily="2" charset="2"/>
              <a:buChar char="q"/>
            </a:pPr>
            <a:r>
              <a:rPr lang="en-US" sz="2800" dirty="0"/>
              <a:t>Unsupervised Learning (No Label)</a:t>
            </a:r>
          </a:p>
          <a:p>
            <a:pPr marL="0" indent="0"/>
            <a:r>
              <a:rPr lang="en-US" sz="2800" dirty="0"/>
              <a:t>  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Discover hidden structure in data.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   </a:t>
            </a:r>
            <a:endParaRPr dirty="0"/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BE3442F4-8954-768B-ED8D-FFD229D51D72}"/>
              </a:ext>
            </a:extLst>
          </p:cNvPr>
          <p:cNvSpPr txBox="1">
            <a:spLocks/>
          </p:cNvSpPr>
          <p:nvPr/>
        </p:nvSpPr>
        <p:spPr>
          <a:xfrm>
            <a:off x="552893" y="2373745"/>
            <a:ext cx="59301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🔹 Clustering: </a:t>
            </a:r>
            <a:r>
              <a:rPr lang="en-US" sz="1400" dirty="0">
                <a:latin typeface="Albert Sans"/>
                <a:sym typeface="Albert Sans"/>
              </a:rPr>
              <a:t>Group similar instances</a:t>
            </a:r>
            <a:endParaRPr lang="en" sz="1400" dirty="0">
              <a:latin typeface="Albert Sans"/>
              <a:sym typeface="Albert Sans"/>
            </a:endParaRPr>
          </a:p>
        </p:txBody>
      </p:sp>
      <p:sp>
        <p:nvSpPr>
          <p:cNvPr id="4" name="Google Shape;263;p43">
            <a:extLst>
              <a:ext uri="{FF2B5EF4-FFF2-40B4-BE49-F238E27FC236}">
                <a16:creationId xmlns:a16="http://schemas.microsoft.com/office/drawing/2014/main" id="{59B426FD-1349-18AA-08A8-B9902F2B8D44}"/>
              </a:ext>
            </a:extLst>
          </p:cNvPr>
          <p:cNvSpPr txBox="1">
            <a:spLocks/>
          </p:cNvSpPr>
          <p:nvPr/>
        </p:nvSpPr>
        <p:spPr>
          <a:xfrm>
            <a:off x="5125706" y="3287511"/>
            <a:ext cx="3465400" cy="160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Algorithm: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K-Means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Hierarchical Clustering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DBSCAN</a:t>
            </a:r>
          </a:p>
        </p:txBody>
      </p:sp>
      <p:sp>
        <p:nvSpPr>
          <p:cNvPr id="5" name="Google Shape;263;p43">
            <a:extLst>
              <a:ext uri="{FF2B5EF4-FFF2-40B4-BE49-F238E27FC236}">
                <a16:creationId xmlns:a16="http://schemas.microsoft.com/office/drawing/2014/main" id="{2A787B1D-ABAB-3ED3-7716-C2A9B282CE16}"/>
              </a:ext>
            </a:extLst>
          </p:cNvPr>
          <p:cNvSpPr txBox="1">
            <a:spLocks/>
          </p:cNvSpPr>
          <p:nvPr/>
        </p:nvSpPr>
        <p:spPr>
          <a:xfrm>
            <a:off x="979053" y="3452027"/>
            <a:ext cx="2885275" cy="140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Customer segmentation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Document grouping</a:t>
            </a:r>
          </a:p>
        </p:txBody>
      </p:sp>
      <p:sp>
        <p:nvSpPr>
          <p:cNvPr id="6" name="Google Shape;267;p43">
            <a:extLst>
              <a:ext uri="{FF2B5EF4-FFF2-40B4-BE49-F238E27FC236}">
                <a16:creationId xmlns:a16="http://schemas.microsoft.com/office/drawing/2014/main" id="{34D93804-D3CF-0201-0770-7B253ACDD45B}"/>
              </a:ext>
            </a:extLst>
          </p:cNvPr>
          <p:cNvSpPr txBox="1">
            <a:spLocks/>
          </p:cNvSpPr>
          <p:nvPr/>
        </p:nvSpPr>
        <p:spPr>
          <a:xfrm>
            <a:off x="552893" y="2912886"/>
            <a:ext cx="2885275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sz="1400" dirty="0">
                <a:latin typeface="Albert Sans"/>
                <a:sym typeface="Albert Sans"/>
              </a:rPr>
              <a:t>        Goal </a:t>
            </a:r>
            <a:r>
              <a:rPr lang="en-US" sz="1400" dirty="0">
                <a:latin typeface="Albert Sans"/>
                <a:sym typeface="Wingdings" panose="05000000000000000000" pitchFamily="2" charset="2"/>
              </a:rPr>
              <a:t></a:t>
            </a:r>
            <a:r>
              <a:rPr lang="en-US" sz="1400" dirty="0">
                <a:latin typeface="Albert Sans"/>
                <a:sym typeface="Albert Sans"/>
              </a:rPr>
              <a:t> </a:t>
            </a:r>
            <a:r>
              <a:rPr lang="en-US" sz="1400" dirty="0">
                <a:latin typeface="Albert Sans"/>
              </a:rPr>
              <a:t>Group data</a:t>
            </a:r>
            <a:endParaRPr lang="en" sz="1400" dirty="0">
              <a:latin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3576680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96A324C-E090-8938-72C3-A175B9A2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>
            <a:extLst>
              <a:ext uri="{FF2B5EF4-FFF2-40B4-BE49-F238E27FC236}">
                <a16:creationId xmlns:a16="http://schemas.microsoft.com/office/drawing/2014/main" id="{7C9FEB73-334D-8910-1DCC-500A0CA41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477" y="508079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Tasks</a:t>
            </a:r>
            <a:endParaRPr dirty="0"/>
          </a:p>
        </p:txBody>
      </p:sp>
      <p:sp>
        <p:nvSpPr>
          <p:cNvPr id="436" name="Google Shape;436;p55">
            <a:extLst>
              <a:ext uri="{FF2B5EF4-FFF2-40B4-BE49-F238E27FC236}">
                <a16:creationId xmlns:a16="http://schemas.microsoft.com/office/drawing/2014/main" id="{74F391AB-2AE0-167C-3164-CEAAA6D008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2893" y="1343859"/>
            <a:ext cx="8038213" cy="1029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buFont typeface="Wingdings" panose="05000000000000000000" pitchFamily="2" charset="2"/>
              <a:buChar char="q"/>
            </a:pPr>
            <a:r>
              <a:rPr lang="en-US" sz="2800" dirty="0"/>
              <a:t>Unsupervised Learning (No Label)</a:t>
            </a:r>
          </a:p>
          <a:p>
            <a:pPr marL="0" indent="0"/>
            <a:r>
              <a:rPr lang="en-US" sz="2800" dirty="0"/>
              <a:t>  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Discover hidden structure in data.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   </a:t>
            </a:r>
            <a:endParaRPr dirty="0"/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0479653A-02BE-4FBA-AD15-AAFA1A010528}"/>
              </a:ext>
            </a:extLst>
          </p:cNvPr>
          <p:cNvSpPr txBox="1">
            <a:spLocks/>
          </p:cNvSpPr>
          <p:nvPr/>
        </p:nvSpPr>
        <p:spPr>
          <a:xfrm>
            <a:off x="552893" y="2373745"/>
            <a:ext cx="657758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🔹 Association Rule Mining: </a:t>
            </a:r>
            <a:r>
              <a:rPr lang="en-US" sz="1400" dirty="0">
                <a:latin typeface="Albert Sans"/>
                <a:sym typeface="Albert Sans"/>
              </a:rPr>
              <a:t>Discover co-occurrence patterns</a:t>
            </a:r>
            <a:endParaRPr lang="en" sz="1400" dirty="0">
              <a:latin typeface="Albert Sans"/>
              <a:sym typeface="Albert Sans"/>
            </a:endParaRPr>
          </a:p>
        </p:txBody>
      </p:sp>
      <p:sp>
        <p:nvSpPr>
          <p:cNvPr id="4" name="Google Shape;263;p43">
            <a:extLst>
              <a:ext uri="{FF2B5EF4-FFF2-40B4-BE49-F238E27FC236}">
                <a16:creationId xmlns:a16="http://schemas.microsoft.com/office/drawing/2014/main" id="{E3FEE258-18A8-2DC4-7F93-0CB066261AD7}"/>
              </a:ext>
            </a:extLst>
          </p:cNvPr>
          <p:cNvSpPr txBox="1">
            <a:spLocks/>
          </p:cNvSpPr>
          <p:nvPr/>
        </p:nvSpPr>
        <p:spPr>
          <a:xfrm>
            <a:off x="4722192" y="3452027"/>
            <a:ext cx="3465400" cy="119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Algorithm: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Apriori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FP-Growth</a:t>
            </a:r>
          </a:p>
        </p:txBody>
      </p:sp>
      <p:sp>
        <p:nvSpPr>
          <p:cNvPr id="5" name="Google Shape;263;p43">
            <a:extLst>
              <a:ext uri="{FF2B5EF4-FFF2-40B4-BE49-F238E27FC236}">
                <a16:creationId xmlns:a16="http://schemas.microsoft.com/office/drawing/2014/main" id="{8A123886-5AEF-CAC1-0CCB-E700CBC07623}"/>
              </a:ext>
            </a:extLst>
          </p:cNvPr>
          <p:cNvSpPr txBox="1">
            <a:spLocks/>
          </p:cNvSpPr>
          <p:nvPr/>
        </p:nvSpPr>
        <p:spPr>
          <a:xfrm>
            <a:off x="956408" y="3452027"/>
            <a:ext cx="2885275" cy="10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Market basket analysis</a:t>
            </a:r>
          </a:p>
        </p:txBody>
      </p:sp>
      <p:sp>
        <p:nvSpPr>
          <p:cNvPr id="2" name="Google Shape;267;p43">
            <a:extLst>
              <a:ext uri="{FF2B5EF4-FFF2-40B4-BE49-F238E27FC236}">
                <a16:creationId xmlns:a16="http://schemas.microsoft.com/office/drawing/2014/main" id="{6A6D4E7C-C042-09F1-EB80-6817D893327E}"/>
              </a:ext>
            </a:extLst>
          </p:cNvPr>
          <p:cNvSpPr txBox="1">
            <a:spLocks/>
          </p:cNvSpPr>
          <p:nvPr/>
        </p:nvSpPr>
        <p:spPr>
          <a:xfrm>
            <a:off x="552893" y="2912886"/>
            <a:ext cx="2885275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sz="1400" dirty="0">
                <a:latin typeface="Albert Sans"/>
                <a:sym typeface="Albert Sans"/>
              </a:rPr>
              <a:t>        Goal </a:t>
            </a:r>
            <a:r>
              <a:rPr lang="en-US" sz="1400" dirty="0">
                <a:latin typeface="Albert Sans"/>
                <a:sym typeface="Wingdings" panose="05000000000000000000" pitchFamily="2" charset="2"/>
              </a:rPr>
              <a:t></a:t>
            </a:r>
            <a:r>
              <a:rPr lang="en-US" sz="1400" dirty="0">
                <a:latin typeface="Albert Sans"/>
                <a:sym typeface="Albert Sans"/>
              </a:rPr>
              <a:t> </a:t>
            </a:r>
            <a:r>
              <a:rPr lang="en-US" sz="1400" dirty="0">
                <a:latin typeface="Albert Sans"/>
              </a:rPr>
              <a:t>Find patterns</a:t>
            </a:r>
            <a:endParaRPr lang="en" sz="1400" dirty="0">
              <a:latin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1530274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7424121-EFC0-D4B0-623F-F041AA23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>
            <a:extLst>
              <a:ext uri="{FF2B5EF4-FFF2-40B4-BE49-F238E27FC236}">
                <a16:creationId xmlns:a16="http://schemas.microsoft.com/office/drawing/2014/main" id="{C7F5ACFB-3B09-5812-658A-F6835DF5E5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477" y="508079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Tasks</a:t>
            </a:r>
            <a:endParaRPr dirty="0"/>
          </a:p>
        </p:txBody>
      </p:sp>
      <p:sp>
        <p:nvSpPr>
          <p:cNvPr id="436" name="Google Shape;436;p55">
            <a:extLst>
              <a:ext uri="{FF2B5EF4-FFF2-40B4-BE49-F238E27FC236}">
                <a16:creationId xmlns:a16="http://schemas.microsoft.com/office/drawing/2014/main" id="{7C5C3798-A6E8-78CE-E504-8F79370AB5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2893" y="1343859"/>
            <a:ext cx="8038213" cy="1029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buFont typeface="Wingdings" panose="05000000000000000000" pitchFamily="2" charset="2"/>
              <a:buChar char="q"/>
            </a:pPr>
            <a:r>
              <a:rPr lang="en-US" sz="2800" dirty="0"/>
              <a:t>Unsupervised Learning (No Label)</a:t>
            </a:r>
          </a:p>
          <a:p>
            <a:pPr marL="0" indent="0"/>
            <a:r>
              <a:rPr lang="en-US" sz="2800" dirty="0"/>
              <a:t>  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Discover hidden structure in data.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   </a:t>
            </a:r>
            <a:endParaRPr dirty="0"/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CA843522-85C1-7538-880A-00F2BB21F6B8}"/>
              </a:ext>
            </a:extLst>
          </p:cNvPr>
          <p:cNvSpPr txBox="1">
            <a:spLocks/>
          </p:cNvSpPr>
          <p:nvPr/>
        </p:nvSpPr>
        <p:spPr>
          <a:xfrm>
            <a:off x="552893" y="2373745"/>
            <a:ext cx="657758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🔹 Anomaly Detection: </a:t>
            </a:r>
            <a:r>
              <a:rPr lang="en-US" sz="1400" dirty="0">
                <a:latin typeface="Albert Sans"/>
                <a:sym typeface="Albert Sans"/>
              </a:rPr>
              <a:t>Detect unusual observations</a:t>
            </a:r>
            <a:endParaRPr lang="en" sz="1400" dirty="0">
              <a:latin typeface="Albert Sans"/>
              <a:sym typeface="Albert Sans"/>
            </a:endParaRPr>
          </a:p>
        </p:txBody>
      </p:sp>
      <p:sp>
        <p:nvSpPr>
          <p:cNvPr id="4" name="Google Shape;263;p43">
            <a:extLst>
              <a:ext uri="{FF2B5EF4-FFF2-40B4-BE49-F238E27FC236}">
                <a16:creationId xmlns:a16="http://schemas.microsoft.com/office/drawing/2014/main" id="{58589AFD-00A1-8BED-E22B-DA97AD69BAD0}"/>
              </a:ext>
            </a:extLst>
          </p:cNvPr>
          <p:cNvSpPr txBox="1">
            <a:spLocks/>
          </p:cNvSpPr>
          <p:nvPr/>
        </p:nvSpPr>
        <p:spPr>
          <a:xfrm>
            <a:off x="4722192" y="3452027"/>
            <a:ext cx="3465400" cy="119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Algorithm: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Isolation Forest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LOF</a:t>
            </a:r>
          </a:p>
        </p:txBody>
      </p:sp>
      <p:sp>
        <p:nvSpPr>
          <p:cNvPr id="5" name="Google Shape;263;p43">
            <a:extLst>
              <a:ext uri="{FF2B5EF4-FFF2-40B4-BE49-F238E27FC236}">
                <a16:creationId xmlns:a16="http://schemas.microsoft.com/office/drawing/2014/main" id="{B9A81C45-3E56-2C33-6DFD-EA5066FCD594}"/>
              </a:ext>
            </a:extLst>
          </p:cNvPr>
          <p:cNvSpPr txBox="1">
            <a:spLocks/>
          </p:cNvSpPr>
          <p:nvPr/>
        </p:nvSpPr>
        <p:spPr>
          <a:xfrm>
            <a:off x="956408" y="3452026"/>
            <a:ext cx="2885275" cy="1267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Fraud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Network intrusion</a:t>
            </a:r>
          </a:p>
        </p:txBody>
      </p:sp>
      <p:sp>
        <p:nvSpPr>
          <p:cNvPr id="2" name="Google Shape;267;p43">
            <a:extLst>
              <a:ext uri="{FF2B5EF4-FFF2-40B4-BE49-F238E27FC236}">
                <a16:creationId xmlns:a16="http://schemas.microsoft.com/office/drawing/2014/main" id="{2EE9E073-9F3F-8E82-2A8A-951FD7266E27}"/>
              </a:ext>
            </a:extLst>
          </p:cNvPr>
          <p:cNvSpPr txBox="1">
            <a:spLocks/>
          </p:cNvSpPr>
          <p:nvPr/>
        </p:nvSpPr>
        <p:spPr>
          <a:xfrm>
            <a:off x="552893" y="2912886"/>
            <a:ext cx="2885275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sz="1400" dirty="0">
                <a:latin typeface="Albert Sans"/>
                <a:sym typeface="Albert Sans"/>
              </a:rPr>
              <a:t>        Goal </a:t>
            </a:r>
            <a:r>
              <a:rPr lang="en-US" sz="1400" dirty="0">
                <a:latin typeface="Albert Sans"/>
                <a:sym typeface="Wingdings" panose="05000000000000000000" pitchFamily="2" charset="2"/>
              </a:rPr>
              <a:t></a:t>
            </a:r>
            <a:r>
              <a:rPr lang="en-US" sz="1400" dirty="0">
                <a:latin typeface="Albert Sans"/>
                <a:sym typeface="Albert Sans"/>
              </a:rPr>
              <a:t> </a:t>
            </a:r>
            <a:r>
              <a:rPr lang="en-US" sz="1400" dirty="0">
                <a:latin typeface="Albert Sans"/>
              </a:rPr>
              <a:t>Find rare events</a:t>
            </a:r>
            <a:endParaRPr lang="en" sz="1400" dirty="0">
              <a:latin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1723491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D545BFB-04FF-B0E6-23A5-780C993A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>
            <a:extLst>
              <a:ext uri="{FF2B5EF4-FFF2-40B4-BE49-F238E27FC236}">
                <a16:creationId xmlns:a16="http://schemas.microsoft.com/office/drawing/2014/main" id="{FB82EECE-6E69-F6F0-9D13-CE9F81D417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477" y="508079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Tasks</a:t>
            </a:r>
            <a:endParaRPr dirty="0"/>
          </a:p>
        </p:txBody>
      </p:sp>
      <p:sp>
        <p:nvSpPr>
          <p:cNvPr id="436" name="Google Shape;436;p55">
            <a:extLst>
              <a:ext uri="{FF2B5EF4-FFF2-40B4-BE49-F238E27FC236}">
                <a16:creationId xmlns:a16="http://schemas.microsoft.com/office/drawing/2014/main" id="{4AFDF8DF-0422-244D-5844-12F961B945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2893" y="1343859"/>
            <a:ext cx="8038213" cy="1029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buFont typeface="Wingdings" panose="05000000000000000000" pitchFamily="2" charset="2"/>
              <a:buChar char="q"/>
            </a:pPr>
            <a:r>
              <a:rPr lang="en-US" sz="2800" dirty="0"/>
              <a:t>Unsupervised Learning (No Label)</a:t>
            </a:r>
          </a:p>
          <a:p>
            <a:pPr marL="0" indent="0"/>
            <a:r>
              <a:rPr lang="en-US" sz="2800" dirty="0"/>
              <a:t>  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Discover hidden structure in data.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   </a:t>
            </a:r>
            <a:endParaRPr dirty="0"/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F5CDC9FB-D44D-1484-5E49-4FDD08ECDC4A}"/>
              </a:ext>
            </a:extLst>
          </p:cNvPr>
          <p:cNvSpPr txBox="1">
            <a:spLocks/>
          </p:cNvSpPr>
          <p:nvPr/>
        </p:nvSpPr>
        <p:spPr>
          <a:xfrm>
            <a:off x="552892" y="2373745"/>
            <a:ext cx="7889143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dirty="0"/>
              <a:t>🔹 Dimensionality Reduction: </a:t>
            </a:r>
            <a:r>
              <a:rPr lang="en-US" sz="1400" dirty="0">
                <a:latin typeface="Albert Sans"/>
                <a:sym typeface="Albert Sans"/>
              </a:rPr>
              <a:t>Reduce features while preserving information</a:t>
            </a:r>
            <a:endParaRPr lang="en" sz="1400" dirty="0">
              <a:latin typeface="Albert Sans"/>
              <a:sym typeface="Albert Sans"/>
            </a:endParaRPr>
          </a:p>
        </p:txBody>
      </p:sp>
      <p:sp>
        <p:nvSpPr>
          <p:cNvPr id="4" name="Google Shape;263;p43">
            <a:extLst>
              <a:ext uri="{FF2B5EF4-FFF2-40B4-BE49-F238E27FC236}">
                <a16:creationId xmlns:a16="http://schemas.microsoft.com/office/drawing/2014/main" id="{68721546-C537-B8D7-05C5-B04447156F37}"/>
              </a:ext>
            </a:extLst>
          </p:cNvPr>
          <p:cNvSpPr txBox="1">
            <a:spLocks/>
          </p:cNvSpPr>
          <p:nvPr/>
        </p:nvSpPr>
        <p:spPr>
          <a:xfrm>
            <a:off x="4782673" y="3385684"/>
            <a:ext cx="3465400" cy="160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Algorithm: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PCA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t-SNE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UMAP</a:t>
            </a:r>
          </a:p>
        </p:txBody>
      </p:sp>
      <p:sp>
        <p:nvSpPr>
          <p:cNvPr id="5" name="Google Shape;263;p43">
            <a:extLst>
              <a:ext uri="{FF2B5EF4-FFF2-40B4-BE49-F238E27FC236}">
                <a16:creationId xmlns:a16="http://schemas.microsoft.com/office/drawing/2014/main" id="{7B04E988-B86F-6C65-95BF-33285BF601DF}"/>
              </a:ext>
            </a:extLst>
          </p:cNvPr>
          <p:cNvSpPr txBox="1">
            <a:spLocks/>
          </p:cNvSpPr>
          <p:nvPr/>
        </p:nvSpPr>
        <p:spPr>
          <a:xfrm>
            <a:off x="997526" y="3482048"/>
            <a:ext cx="2885275" cy="140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Visualization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Preprocessing</a:t>
            </a:r>
          </a:p>
        </p:txBody>
      </p:sp>
      <p:sp>
        <p:nvSpPr>
          <p:cNvPr id="2" name="Google Shape;267;p43">
            <a:extLst>
              <a:ext uri="{FF2B5EF4-FFF2-40B4-BE49-F238E27FC236}">
                <a16:creationId xmlns:a16="http://schemas.microsoft.com/office/drawing/2014/main" id="{638C0AA4-00ED-027E-137B-553946934E40}"/>
              </a:ext>
            </a:extLst>
          </p:cNvPr>
          <p:cNvSpPr txBox="1">
            <a:spLocks/>
          </p:cNvSpPr>
          <p:nvPr/>
        </p:nvSpPr>
        <p:spPr>
          <a:xfrm>
            <a:off x="552893" y="2912886"/>
            <a:ext cx="2885275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sz="1400" dirty="0">
                <a:latin typeface="Albert Sans"/>
                <a:sym typeface="Albert Sans"/>
              </a:rPr>
              <a:t>        Goal </a:t>
            </a:r>
            <a:r>
              <a:rPr lang="en-US" sz="1400" dirty="0">
                <a:latin typeface="Albert Sans"/>
                <a:sym typeface="Wingdings" panose="05000000000000000000" pitchFamily="2" charset="2"/>
              </a:rPr>
              <a:t></a:t>
            </a:r>
            <a:r>
              <a:rPr lang="en-US" sz="1400" dirty="0">
                <a:latin typeface="Albert Sans"/>
                <a:sym typeface="Albert Sans"/>
              </a:rPr>
              <a:t> </a:t>
            </a:r>
            <a:r>
              <a:rPr lang="en-US" sz="1400" dirty="0">
                <a:latin typeface="Albert Sans"/>
              </a:rPr>
              <a:t>Simplify data</a:t>
            </a:r>
            <a:endParaRPr lang="en" sz="1400" dirty="0">
              <a:latin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2783740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2F87C311-1C39-ECDD-C5C5-5780B9FD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>
            <a:extLst>
              <a:ext uri="{FF2B5EF4-FFF2-40B4-BE49-F238E27FC236}">
                <a16:creationId xmlns:a16="http://schemas.microsoft.com/office/drawing/2014/main" id="{0A4E612B-2504-BB6D-7C21-94C47F1E33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477" y="508079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Mining Tasks</a:t>
            </a:r>
            <a:endParaRPr dirty="0"/>
          </a:p>
        </p:txBody>
      </p:sp>
      <p:sp>
        <p:nvSpPr>
          <p:cNvPr id="3" name="Google Shape;267;p43">
            <a:extLst>
              <a:ext uri="{FF2B5EF4-FFF2-40B4-BE49-F238E27FC236}">
                <a16:creationId xmlns:a16="http://schemas.microsoft.com/office/drawing/2014/main" id="{EB39ECB3-747E-982B-D5BD-A36CB4372E49}"/>
              </a:ext>
            </a:extLst>
          </p:cNvPr>
          <p:cNvSpPr txBox="1">
            <a:spLocks/>
          </p:cNvSpPr>
          <p:nvPr/>
        </p:nvSpPr>
        <p:spPr>
          <a:xfrm>
            <a:off x="552892" y="1995055"/>
            <a:ext cx="8138526" cy="9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sz="2000" dirty="0">
                <a:latin typeface="Albert Sans"/>
                <a:sym typeface="Albert Sans"/>
                <a:hlinkClick r:id="rId3"/>
              </a:rPr>
              <a:t>https://colab.research.google.com/drive/1c6Ay25O4lOX_CZJ0ntJK8fibM2x1Hsku#scrollTo=d25dd739</a:t>
            </a:r>
            <a:endParaRPr lang="en-US" sz="2000" dirty="0">
              <a:latin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2541582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5370F757-8F88-11A5-0753-4DBF5A68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BF38D3-D0D0-0052-C102-D37EADEF6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" y="432391"/>
            <a:ext cx="7456203" cy="455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54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E17DA9B3-B32A-49BC-93C0-3427D6DA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99546-42A2-D78D-A898-142F9DDBD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429" y="0"/>
            <a:ext cx="64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61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644" name="Google Shape;644;p69"/>
          <p:cNvGrpSpPr/>
          <p:nvPr/>
        </p:nvGrpSpPr>
        <p:grpSpPr>
          <a:xfrm>
            <a:off x="4648206" y="1844074"/>
            <a:ext cx="251915" cy="251862"/>
            <a:chOff x="266768" y="1721375"/>
            <a:chExt cx="397907" cy="397887"/>
          </a:xfrm>
        </p:grpSpPr>
        <p:sp>
          <p:nvSpPr>
            <p:cNvPr id="645" name="Google Shape;645;p69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69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7" name="Google Shape;647;p69"/>
          <p:cNvGrpSpPr/>
          <p:nvPr/>
        </p:nvGrpSpPr>
        <p:grpSpPr>
          <a:xfrm>
            <a:off x="4991079" y="1843920"/>
            <a:ext cx="251889" cy="251862"/>
            <a:chOff x="864491" y="1723250"/>
            <a:chExt cx="397866" cy="397887"/>
          </a:xfrm>
        </p:grpSpPr>
        <p:sp>
          <p:nvSpPr>
            <p:cNvPr id="648" name="Google Shape;648;p69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9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9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1" name="Google Shape;651;p69"/>
          <p:cNvSpPr/>
          <p:nvPr/>
        </p:nvSpPr>
        <p:spPr>
          <a:xfrm>
            <a:off x="5333834" y="1866794"/>
            <a:ext cx="252649" cy="206023"/>
          </a:xfrm>
          <a:custGeom>
            <a:avLst/>
            <a:gdLst/>
            <a:ahLst/>
            <a:cxnLst/>
            <a:rect l="l" t="t" r="r" b="b"/>
            <a:pathLst>
              <a:path w="19122" h="15596" extrusionOk="0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6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1169</Words>
  <Application>Microsoft Office PowerPoint</Application>
  <PresentationFormat>On-screen Show (16:9)</PresentationFormat>
  <Paragraphs>212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Wingdings</vt:lpstr>
      <vt:lpstr>Alexandria Medium</vt:lpstr>
      <vt:lpstr>Arial</vt:lpstr>
      <vt:lpstr>Albert Sans</vt:lpstr>
      <vt:lpstr>Lead Funnel by Slidesgo</vt:lpstr>
      <vt:lpstr>Data Mining Concept</vt:lpstr>
      <vt:lpstr>01</vt:lpstr>
      <vt:lpstr>Why mine data ?</vt:lpstr>
      <vt:lpstr>Why mine data ?</vt:lpstr>
      <vt:lpstr>Why mine data ?</vt:lpstr>
      <vt:lpstr>What is Data Mining ?</vt:lpstr>
      <vt:lpstr>PowerPoint Presentation</vt:lpstr>
      <vt:lpstr>PowerPoint Presentation</vt:lpstr>
      <vt:lpstr>Question</vt:lpstr>
      <vt:lpstr>Question</vt:lpstr>
      <vt:lpstr>Question</vt:lpstr>
      <vt:lpstr>Both methods search data — so what’s the danger?</vt:lpstr>
      <vt:lpstr>Example</vt:lpstr>
      <vt:lpstr>Example</vt:lpstr>
      <vt:lpstr>⚠️ Distinguishing Data Mining from Data Dredging</vt:lpstr>
      <vt:lpstr>Knowledge Discovery (KDD) Process</vt:lpstr>
      <vt:lpstr>KDD Process: A Typical View from ML and Statistics</vt:lpstr>
      <vt:lpstr>Data Mining Tasks</vt:lpstr>
      <vt:lpstr>Data Mining Tasks</vt:lpstr>
      <vt:lpstr>Data Mining Tasks</vt:lpstr>
      <vt:lpstr>Data Mining Tasks</vt:lpstr>
      <vt:lpstr>Data Mining Tasks</vt:lpstr>
      <vt:lpstr>Data Mining Tasks</vt:lpstr>
      <vt:lpstr>Data Mining Tasks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Ika Widiastuti</dc:creator>
  <cp:lastModifiedBy>Ika Widiastuti</cp:lastModifiedBy>
  <cp:revision>26</cp:revision>
  <dcterms:modified xsi:type="dcterms:W3CDTF">2026-02-26T15:32:57Z</dcterms:modified>
</cp:coreProperties>
</file>